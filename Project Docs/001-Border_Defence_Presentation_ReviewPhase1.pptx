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0" r:id="rId4"/>
    <p:sldId id="258" r:id="rId5"/>
    <p:sldId id="259" r:id="rId6"/>
    <p:sldId id="260" r:id="rId7"/>
    <p:sldId id="28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82" r:id="rId24"/>
    <p:sldId id="283" r:id="rId25"/>
    <p:sldId id="277" r:id="rId26"/>
    <p:sldId id="284" r:id="rId27"/>
    <p:sldId id="278" r:id="rId28"/>
    <p:sldId id="285" r:id="rId29"/>
    <p:sldId id="286" r:id="rId30"/>
    <p:sldId id="279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9" d="100"/>
          <a:sy n="149" d="100"/>
        </p:scale>
        <p:origin x="50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979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3164D-A1A1-CA76-5CDB-51E773B9E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4673E0-47A7-2551-1F28-50E918DB78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D5B831-03A0-BA36-DFA8-185A09F5C4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C93BE-32BB-194D-362A-4F471A0C3F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9489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E3CC3-E644-2E13-9684-56AF349FC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37FA1-ED5C-8FDA-E8E0-9BE2E7CC5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9FFA9-A451-37BF-7278-D795C15A2F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6F2AB6-33B2-60DC-5E37-57AF59DC25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203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93B41-1EEA-F955-7CAB-E2E980B6E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9A76E-1D09-5D26-A8C3-19B43E1CF4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039B-2AD9-8DC1-6F7B-05CD354022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A6E5F-0C40-23CB-90B1-49832E448A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7632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B1E85-0F7F-7756-7397-F46419C74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93DE9E-0D78-239D-8F27-2088AAF1D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A7F41-FE2E-63E9-A958-7236C48BE9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19C30-8715-3414-A8D0-460D2376AC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8353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B60A6-8487-4FDE-E12A-EAC7F14B4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DE1C23-2785-EF16-4BFC-28763BCCE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3BB995-1640-8842-5D12-E8B8BA63A6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23A77-1D06-0A71-316F-FB3782A01E9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097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4330F-96FB-2927-780F-1FF83EA48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220CE9-9CFC-0BC4-06A4-79B1641EF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B31796-4113-C96B-E3AA-EDCE48A6E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17486B-0B74-F03E-8286-54410C1A3F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69051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EE947-F0C0-6DB2-2A93-89B94651F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C4828-DCF6-29ED-760A-961DE1B8AB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0C1872-F0C0-AC9B-7A78-255183A51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E9AA6-6057-298F-70AB-D3F2CFF5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01554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4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2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72972" y="142095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and Surveillance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457200" y="20178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1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System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2743200" y="33635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– Patel Binit Umesh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IN" sz="2000" b="1" dirty="0" err="1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Enrollment</a:t>
            </a:r>
            <a:r>
              <a:rPr lang="en-IN" sz="2000" b="1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 - 230143107014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en-IN" sz="2000" b="1" dirty="0">
              <a:solidFill>
                <a:schemeClr val="bg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400" dirty="0">
              <a:solidFill>
                <a:schemeClr val="bg2"/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1828800" y="448056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Computer Engineering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71600" y="47091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</a:rPr>
              <a:t>Government Engineering College, Bharuch</a:t>
            </a:r>
            <a:endParaRPr lang="en-US" sz="13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1A20C42-4CE3-9A3D-15D8-22D5427C6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59" y="194422"/>
            <a:ext cx="1610360" cy="1205625"/>
          </a:xfrm>
          <a:prstGeom prst="rect">
            <a:avLst/>
          </a:prstGeom>
        </p:spPr>
      </p:pic>
      <p:pic>
        <p:nvPicPr>
          <p:cNvPr id="1026" name="Picture 2" descr="Government Engineering College Bharuch ...">
            <a:extLst>
              <a:ext uri="{FF2B5EF4-FFF2-40B4-BE49-F238E27FC236}">
                <a16:creationId xmlns:a16="http://schemas.microsoft.com/office/drawing/2014/main" id="{6F39FB85-E5C9-0679-04C9-9922EB171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105" y="190035"/>
            <a:ext cx="1230923" cy="1230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19DE6C9-7455-3D21-FB23-3A2198152F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1878" y="2552693"/>
            <a:ext cx="1176454" cy="1209045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0830817E-42FA-4D2F-4719-47B8CF81A9C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73729" y="577353"/>
            <a:ext cx="1596542" cy="456286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640080" y="39773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43478" y="3977394"/>
            <a:ext cx="4218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005840" y="39316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Timeline of Project [12 Weekly Plan]</a:t>
            </a:r>
          </a:p>
        </p:txBody>
      </p:sp>
      <p:sp>
        <p:nvSpPr>
          <p:cNvPr id="6" name="Shape 4"/>
          <p:cNvSpPr/>
          <p:nvPr/>
        </p:nvSpPr>
        <p:spPr>
          <a:xfrm>
            <a:off x="640080" y="133694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40080" y="133694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2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05840" y="129122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Project Overview &amp; Objectives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64601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40080" y="1664601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618881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Software Requirements Specification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2011680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40080" y="20116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Company Profile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23467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" y="23467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3009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Tools &amp; Technologies Used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268199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40080" y="268199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05840" y="263627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Key Functionalities/Features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30172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" y="301727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7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05840" y="29715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Progress Overview (Current Status, Completed Phases, Ongoing Tasks)</a:t>
            </a:r>
          </a:p>
        </p:txBody>
      </p:sp>
      <p:sp>
        <p:nvSpPr>
          <p:cNvPr id="24" name="Shape 22"/>
          <p:cNvSpPr/>
          <p:nvPr/>
        </p:nvSpPr>
        <p:spPr>
          <a:xfrm>
            <a:off x="640080" y="333731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640080" y="333731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05840" y="329159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Implementation Screenshots (Code Blocks)</a:t>
            </a:r>
          </a:p>
        </p:txBody>
      </p:sp>
      <p:sp>
        <p:nvSpPr>
          <p:cNvPr id="27" name="Shape 25"/>
          <p:cNvSpPr/>
          <p:nvPr/>
        </p:nvSpPr>
        <p:spPr>
          <a:xfrm>
            <a:off x="640080" y="365735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40080" y="365735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9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63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Results &amp; Outcomes</a:t>
            </a:r>
            <a:endParaRPr lang="en-US" sz="1400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A96C8346-F8CD-98B2-7246-030FAB64786F}"/>
              </a:ext>
            </a:extLst>
          </p:cNvPr>
          <p:cNvSpPr/>
          <p:nvPr/>
        </p:nvSpPr>
        <p:spPr>
          <a:xfrm>
            <a:off x="640080" y="1006086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1" name="Text 2">
            <a:extLst>
              <a:ext uri="{FF2B5EF4-FFF2-40B4-BE49-F238E27FC236}">
                <a16:creationId xmlns:a16="http://schemas.microsoft.com/office/drawing/2014/main" id="{1DEF7205-B809-AA20-FCBE-B46DFB8FBAC1}"/>
              </a:ext>
            </a:extLst>
          </p:cNvPr>
          <p:cNvSpPr/>
          <p:nvPr/>
        </p:nvSpPr>
        <p:spPr>
          <a:xfrm>
            <a:off x="640080" y="10058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</a:t>
            </a:r>
            <a:endParaRPr lang="en-US" sz="1100" dirty="0"/>
          </a:p>
        </p:txBody>
      </p:sp>
      <p:sp>
        <p:nvSpPr>
          <p:cNvPr id="32" name="Text 3">
            <a:extLst>
              <a:ext uri="{FF2B5EF4-FFF2-40B4-BE49-F238E27FC236}">
                <a16:creationId xmlns:a16="http://schemas.microsoft.com/office/drawing/2014/main" id="{E4B5F3B3-95E1-7797-BDF9-9CA0EF6D3346}"/>
              </a:ext>
            </a:extLst>
          </p:cNvPr>
          <p:cNvSpPr/>
          <p:nvPr/>
        </p:nvSpPr>
        <p:spPr>
          <a:xfrm>
            <a:off x="1005840" y="96012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Abstract</a:t>
            </a:r>
            <a:endParaRPr lang="en-US" sz="1400" dirty="0"/>
          </a:p>
        </p:txBody>
      </p:sp>
      <p:sp>
        <p:nvSpPr>
          <p:cNvPr id="35" name="Shape 1">
            <a:extLst>
              <a:ext uri="{FF2B5EF4-FFF2-40B4-BE49-F238E27FC236}">
                <a16:creationId xmlns:a16="http://schemas.microsoft.com/office/drawing/2014/main" id="{D4913007-0283-EBF2-2B7A-C1D8409141B0}"/>
              </a:ext>
            </a:extLst>
          </p:cNvPr>
          <p:cNvSpPr/>
          <p:nvPr/>
        </p:nvSpPr>
        <p:spPr>
          <a:xfrm>
            <a:off x="640080" y="429743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6" name="Text 2">
            <a:extLst>
              <a:ext uri="{FF2B5EF4-FFF2-40B4-BE49-F238E27FC236}">
                <a16:creationId xmlns:a16="http://schemas.microsoft.com/office/drawing/2014/main" id="{F5EA1432-364C-B599-174F-76ACD0666AA7}"/>
              </a:ext>
            </a:extLst>
          </p:cNvPr>
          <p:cNvSpPr/>
          <p:nvPr/>
        </p:nvSpPr>
        <p:spPr>
          <a:xfrm>
            <a:off x="571500" y="429743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11</a:t>
            </a:r>
            <a:endParaRPr lang="en-US" sz="1100" dirty="0"/>
          </a:p>
        </p:txBody>
      </p:sp>
      <p:sp>
        <p:nvSpPr>
          <p:cNvPr id="37" name="Text 3">
            <a:extLst>
              <a:ext uri="{FF2B5EF4-FFF2-40B4-BE49-F238E27FC236}">
                <a16:creationId xmlns:a16="http://schemas.microsoft.com/office/drawing/2014/main" id="{4FADBD8A-5A23-9187-0264-38825FF08ADF}"/>
              </a:ext>
            </a:extLst>
          </p:cNvPr>
          <p:cNvSpPr/>
          <p:nvPr/>
        </p:nvSpPr>
        <p:spPr>
          <a:xfrm>
            <a:off x="1005840" y="425171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Conclusion &amp; Future Scope</a:t>
            </a:r>
            <a:endParaRPr lang="en-US" sz="1400" dirty="0"/>
          </a:p>
        </p:txBody>
      </p:sp>
      <p:sp>
        <p:nvSpPr>
          <p:cNvPr id="38" name="Shape 1">
            <a:extLst>
              <a:ext uri="{FF2B5EF4-FFF2-40B4-BE49-F238E27FC236}">
                <a16:creationId xmlns:a16="http://schemas.microsoft.com/office/drawing/2014/main" id="{271D138E-D6FE-668F-8DAA-06D8272E46D3}"/>
              </a:ext>
            </a:extLst>
          </p:cNvPr>
          <p:cNvSpPr/>
          <p:nvPr/>
        </p:nvSpPr>
        <p:spPr>
          <a:xfrm>
            <a:off x="640080" y="4617474"/>
            <a:ext cx="228600" cy="22860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Text 2">
            <a:extLst>
              <a:ext uri="{FF2B5EF4-FFF2-40B4-BE49-F238E27FC236}">
                <a16:creationId xmlns:a16="http://schemas.microsoft.com/office/drawing/2014/main" id="{1BD2541B-22C4-3F93-B2E7-F2CC53084371}"/>
              </a:ext>
            </a:extLst>
          </p:cNvPr>
          <p:cNvSpPr/>
          <p:nvPr/>
        </p:nvSpPr>
        <p:spPr>
          <a:xfrm>
            <a:off x="571500" y="4617474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</a:rPr>
              <a:t>12</a:t>
            </a:r>
            <a:endParaRPr lang="en-US" sz="1100" dirty="0"/>
          </a:p>
        </p:txBody>
      </p:sp>
      <p:sp>
        <p:nvSpPr>
          <p:cNvPr id="40" name="Text 3">
            <a:extLst>
              <a:ext uri="{FF2B5EF4-FFF2-40B4-BE49-F238E27FC236}">
                <a16:creationId xmlns:a16="http://schemas.microsoft.com/office/drawing/2014/main" id="{CF0D71A6-F75E-BAE8-8DC2-91D94FDA9EA9}"/>
              </a:ext>
            </a:extLst>
          </p:cNvPr>
          <p:cNvSpPr/>
          <p:nvPr/>
        </p:nvSpPr>
        <p:spPr>
          <a:xfrm>
            <a:off x="1005840" y="457175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References</a:t>
            </a:r>
            <a:endParaRPr lang="en-US" sz="1400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CFD85F-55C1-71D1-64FE-03CAF9544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0">
            <a:extLst>
              <a:ext uri="{FF2B5EF4-FFF2-40B4-BE49-F238E27FC236}">
                <a16:creationId xmlns:a16="http://schemas.microsoft.com/office/drawing/2014/main" id="{8CAB39E0-BC54-6C2D-0C97-1C224D59BC6B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</a:t>
            </a:r>
          </a:p>
        </p:txBody>
      </p:sp>
      <p:sp>
        <p:nvSpPr>
          <p:cNvPr id="44" name="Text 3">
            <a:extLst>
              <a:ext uri="{FF2B5EF4-FFF2-40B4-BE49-F238E27FC236}">
                <a16:creationId xmlns:a16="http://schemas.microsoft.com/office/drawing/2014/main" id="{FB2C8416-A385-1B94-784D-752D02E5050C}"/>
              </a:ext>
            </a:extLst>
          </p:cNvPr>
          <p:cNvSpPr/>
          <p:nvPr/>
        </p:nvSpPr>
        <p:spPr>
          <a:xfrm>
            <a:off x="457200" y="2727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This project develops an AI-powered border surveillance system using deep learning for real-time threat detection. The system employs YOLOv8 for object detection to identify persons, vehicles, and suspicious activities in surveillance footage at 30+ FPS.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An ensemble machine learning approach combining Isolation Forest and Random Forest algorithms performs anomaly detection to identify unusual patterns and behaviors.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system processes surveillance video feeds, extracting frames and analyzing them through a detection pipeline. Detected threats are prioritized based on confidence scores and trigger real-time alerts via email and SMS.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The entire infrastructure is deployed on Microsoft Azure cloud platform, utilizing Azure Functions for serverless processing, Azure Blob Storage for video/frame storage, and Azure Cosmos DB for alert logging. A Power BI dashboard provides real-time visualization of detection metrics, anomaly heatmaps, and system performance.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sz="1400" dirty="0">
              <a:solidFill>
                <a:srgbClr val="CADCFC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1400" dirty="0">
                <a:solidFill>
                  <a:srgbClr val="CADCFC"/>
                </a:solidFill>
              </a:rPr>
              <a:t>Training utilizes UCF-Crime dataset (1,900 videos, 13 anomaly types) and </a:t>
            </a:r>
            <a:r>
              <a:rPr lang="en-US" sz="1400" dirty="0" err="1">
                <a:solidFill>
                  <a:srgbClr val="CADCFC"/>
                </a:solidFill>
              </a:rPr>
              <a:t>xView</a:t>
            </a:r>
            <a:r>
              <a:rPr lang="en-US" sz="1400" dirty="0">
                <a:solidFill>
                  <a:srgbClr val="CADCFC"/>
                </a:solidFill>
              </a:rPr>
              <a:t> satellite dataset (1M+ objects). Target metrics include &gt;90% detection accuracy and &lt;20% false positive rate.</a:t>
            </a:r>
          </a:p>
        </p:txBody>
      </p:sp>
    </p:spTree>
    <p:extLst>
      <p:ext uri="{BB962C8B-B14F-4D97-AF65-F5344CB8AC3E}">
        <p14:creationId xmlns:p14="http://schemas.microsoft.com/office/powerpoint/2010/main" val="2937138161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Microsoft Elevate Program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23444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12-week intensive virtual internship program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234440"/>
            <a:ext cx="320040" cy="320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212080" y="123444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Powered by Edunet Foundation &amp; FICE Education</a:t>
            </a:r>
            <a:endParaRPr lang="en-US" sz="1300" dirty="0"/>
          </a:p>
        </p:txBody>
      </p:sp>
      <p:sp>
        <p:nvSpPr>
          <p:cNvPr id="10" name="Shape 5"/>
          <p:cNvSpPr/>
          <p:nvPr/>
        </p:nvSpPr>
        <p:spPr>
          <a:xfrm>
            <a:off x="45720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423160"/>
            <a:ext cx="320040" cy="3200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Partnership with GTU for 8th Semester Internship</a:t>
            </a:r>
            <a:endParaRPr lang="en-US" sz="1300" dirty="0"/>
          </a:p>
        </p:txBody>
      </p:sp>
      <p:sp>
        <p:nvSpPr>
          <p:cNvPr id="13" name="Shape 7"/>
          <p:cNvSpPr/>
          <p:nvPr/>
        </p:nvSpPr>
        <p:spPr>
          <a:xfrm>
            <a:off x="4663440" y="228600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423160"/>
            <a:ext cx="320040" cy="32004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12080" y="242316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Focus: Data Analytics, ML, DL, Power BI, Azure Cloud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5720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611880"/>
            <a:ext cx="320040" cy="32004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Industry mentorship from Microsoft-certified trainers</a:t>
            </a:r>
            <a:endParaRPr lang="en-US" sz="1300" dirty="0"/>
          </a:p>
        </p:txBody>
      </p:sp>
      <p:sp>
        <p:nvSpPr>
          <p:cNvPr id="19" name="Shape 11"/>
          <p:cNvSpPr/>
          <p:nvPr/>
        </p:nvSpPr>
        <p:spPr>
          <a:xfrm>
            <a:off x="4663440" y="3474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611880"/>
            <a:ext cx="320040" cy="32004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3611880"/>
            <a:ext cx="3337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Hands-on labs with real-world datasets</a:t>
            </a:r>
            <a:endParaRPr lang="en-US" sz="1300" dirty="0"/>
          </a:p>
        </p:txBody>
      </p:sp>
      <p:sp>
        <p:nvSpPr>
          <p:cNvPr id="22" name="Text 2"/>
          <p:cNvSpPr/>
          <p:nvPr/>
        </p:nvSpPr>
        <p:spPr>
          <a:xfrm>
            <a:off x="457200" y="468904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</a:rPr>
              <a:t>Microsoft Elevate Internship Project | Jan-Apr 2026</a:t>
            </a:r>
            <a:endParaRPr lang="en-US" sz="1600" dirty="0"/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Elevate - Learning Modules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solidFill>
            <a:srgbClr val="0891B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1-2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920240" y="10972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Data Analytics &amp; EDA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1645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3-5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920240" y="164592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103120" y="16459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Power BI &amp; Business Intelligence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6-7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920240" y="219456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Machine Learning (Supervised &amp; Unsupervised)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57200" y="27432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8-9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920240" y="274320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2103120" y="27432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Deep Learning &amp; Computer Vision (CNN)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solidFill>
            <a:srgbClr val="D946E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10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920240" y="329184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103120" y="329184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Generative AI &amp; Prompt Engineering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720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Week 11-12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1920240" y="3840480"/>
            <a:ext cx="676656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2103120" y="38404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Microsoft Azure Cloud &amp; Deployment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During Internship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85800" y="1097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Attend weekly live sessions and complete hands-on labs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554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685800" y="1554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Work on real-world datasets for Data Analytics &amp; ML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0116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85800" y="20116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ML pipelines (data → model → deployment)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4688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85800" y="24688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Power BI dashboards for data visualization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29260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685800" y="29260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AI models on Microsoft Azure Cloud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33832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" y="33832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Complete GTU internship project under Border Defence domain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57200" y="3840480"/>
            <a:ext cx="73152" cy="3657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85800" y="384048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Maintain GitHub repository with clean code practices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DBB98-32DE-A7CB-B38B-A76CC27E5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0">
            <a:extLst>
              <a:ext uri="{FF2B5EF4-FFF2-40B4-BE49-F238E27FC236}">
                <a16:creationId xmlns:a16="http://schemas.microsoft.com/office/drawing/2014/main" id="{4E357B21-78D9-5331-DD44-396FEB707309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</a:p>
        </p:txBody>
      </p:sp>
      <p:sp>
        <p:nvSpPr>
          <p:cNvPr id="19" name="Shape 1">
            <a:extLst>
              <a:ext uri="{FF2B5EF4-FFF2-40B4-BE49-F238E27FC236}">
                <a16:creationId xmlns:a16="http://schemas.microsoft.com/office/drawing/2014/main" id="{E6162253-C0B9-CB50-9EE0-C6AA93C39B3F}"/>
              </a:ext>
            </a:extLst>
          </p:cNvPr>
          <p:cNvSpPr/>
          <p:nvPr/>
        </p:nvSpPr>
        <p:spPr>
          <a:xfrm>
            <a:off x="457200" y="1038225"/>
            <a:ext cx="8229600" cy="167487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2">
            <a:extLst>
              <a:ext uri="{FF2B5EF4-FFF2-40B4-BE49-F238E27FC236}">
                <a16:creationId xmlns:a16="http://schemas.microsoft.com/office/drawing/2014/main" id="{18D51929-402C-67DE-DA03-BF41068B0EAF}"/>
              </a:ext>
            </a:extLst>
          </p:cNvPr>
          <p:cNvSpPr/>
          <p:nvPr/>
        </p:nvSpPr>
        <p:spPr>
          <a:xfrm>
            <a:off x="632460" y="110413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Functional Requirements:</a:t>
            </a:r>
          </a:p>
        </p:txBody>
      </p:sp>
      <p:sp>
        <p:nvSpPr>
          <p:cNvPr id="21" name="Text 4">
            <a:extLst>
              <a:ext uri="{FF2B5EF4-FFF2-40B4-BE49-F238E27FC236}">
                <a16:creationId xmlns:a16="http://schemas.microsoft.com/office/drawing/2014/main" id="{125D3E5D-4261-23BA-57B6-4A54AA3551BE}"/>
              </a:ext>
            </a:extLst>
          </p:cNvPr>
          <p:cNvSpPr/>
          <p:nvPr/>
        </p:nvSpPr>
        <p:spPr>
          <a:xfrm>
            <a:off x="632460" y="1877568"/>
            <a:ext cx="5196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object detection with YOLOv8 (persons, vehicles, suspicious objects)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Anomaly detection using ensemble ML models (Isolation Forest + Random Forest)  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Video frame extraction and preprocessing (1 FPS from surveillance feeds)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Confidence-based threat prioritization and filtering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Multi-channel alert system (Email, SMS) for detected threats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Cloud storage management for videos, frames, and detection logs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Real-time dashboard visualization with Power BI</a:t>
            </a:r>
          </a:p>
        </p:txBody>
      </p:sp>
      <p:sp>
        <p:nvSpPr>
          <p:cNvPr id="22" name="Shape 1">
            <a:extLst>
              <a:ext uri="{FF2B5EF4-FFF2-40B4-BE49-F238E27FC236}">
                <a16:creationId xmlns:a16="http://schemas.microsoft.com/office/drawing/2014/main" id="{26890E4C-4945-4BB9-F583-E9756944058E}"/>
              </a:ext>
            </a:extLst>
          </p:cNvPr>
          <p:cNvSpPr/>
          <p:nvPr/>
        </p:nvSpPr>
        <p:spPr>
          <a:xfrm>
            <a:off x="457200" y="3212211"/>
            <a:ext cx="8229600" cy="1416558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E3A5E0D7-FEA4-897B-B005-9BB2B0085632}"/>
              </a:ext>
            </a:extLst>
          </p:cNvPr>
          <p:cNvSpPr/>
          <p:nvPr/>
        </p:nvSpPr>
        <p:spPr>
          <a:xfrm>
            <a:off x="601980" y="3297555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Non-Functional Requirements:</a:t>
            </a:r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C311CDD3-756C-F296-A1D6-067FDEEF775B}"/>
              </a:ext>
            </a:extLst>
          </p:cNvPr>
          <p:cNvSpPr/>
          <p:nvPr/>
        </p:nvSpPr>
        <p:spPr>
          <a:xfrm>
            <a:off x="601980" y="3928872"/>
            <a:ext cx="56464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Performance: Process 30+ FPS with YOLOv8, &lt;2s alert latency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Accuracy: &gt;90% detection accuracy, &lt;20% false positive rate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Scalability: Handle multiple camera feeds via Azure cloud infrastructure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Reliability: 99% uptime with Azure cloud services</a:t>
            </a:r>
          </a:p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</a:rPr>
              <a:t>• Security: Encrypted data storage and secure API endpoints</a:t>
            </a:r>
          </a:p>
        </p:txBody>
      </p:sp>
    </p:spTree>
    <p:extLst>
      <p:ext uri="{BB962C8B-B14F-4D97-AF65-F5344CB8AC3E}">
        <p14:creationId xmlns:p14="http://schemas.microsoft.com/office/powerpoint/2010/main" val="415483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Project Title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AI-Powered Border Surveillance System with Real-Time Anomaly Detection and Cloud-Based Alert Management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D9FF"/>
                </a:solidFill>
              </a:rPr>
              <a:t>Applicability</a:t>
            </a:r>
            <a:endParaRPr lang="en-US" sz="2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468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National Border Security Enhancement</a:t>
            </a:r>
            <a:endParaRPr lang="en-US" sz="14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346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2880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Automated threat detection replacing manual monitoring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461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3291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Real-time alert system for security personnel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Cost-effective alternative to traditional surveillance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069080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4400" y="4114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Scalable solution for large-scale border monitoring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854" y="36576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Defence &amp; Surveillance Challenges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457200" y="1005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9FF"/>
                </a:solidFill>
              </a:rPr>
              <a:t>Key Issues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40080" y="1371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Large-scale monitoring of vast border areas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78308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0080" y="17830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Delayed threat detection due to manual analysis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219456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40080" y="219456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High false alarm rates (animals, weather, noise)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40080" y="26060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Limited manpower and resources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017520"/>
            <a:ext cx="54864" cy="320040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40080" y="30175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Poor data integration from sensors and cameras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1005840"/>
            <a:ext cx="3657600" cy="2743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914400" cy="9144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212080" y="23774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Solution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5303520" y="27432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AI-powered automated surveillance system</a:t>
            </a:r>
            <a:endParaRPr lang="en-US" sz="16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D9FF"/>
                </a:solidFill>
              </a:rPr>
              <a:t>An intelligent surveillance system that: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002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Monitors border areas using video surveillance data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663440" y="146304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600200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212080" y="160020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Automatically detects unusual activities and objects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5720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651760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Uses Machine Learning to identify threats in real-time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663440" y="251460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265176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212080" y="265176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Sends prioritized alerts to security personnel</a:t>
            </a:r>
            <a:endParaRPr lang="en-US" sz="1200" dirty="0"/>
          </a:p>
        </p:txBody>
      </p:sp>
      <p:sp>
        <p:nvSpPr>
          <p:cNvPr id="16" name="Shape 10"/>
          <p:cNvSpPr/>
          <p:nvPr/>
        </p:nvSpPr>
        <p:spPr>
          <a:xfrm>
            <a:off x="45720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703320"/>
            <a:ext cx="320040" cy="3200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0584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Deploys on Azure Cloud for scalability</a:t>
            </a:r>
            <a:endParaRPr lang="en-US" sz="1200" dirty="0"/>
          </a:p>
        </p:txBody>
      </p:sp>
      <p:sp>
        <p:nvSpPr>
          <p:cNvPr id="19" name="Shape 12"/>
          <p:cNvSpPr/>
          <p:nvPr/>
        </p:nvSpPr>
        <p:spPr>
          <a:xfrm>
            <a:off x="4663440" y="3566160"/>
            <a:ext cx="402336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3703320"/>
            <a:ext cx="320040" cy="32004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5212080" y="3703320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Visualizes data through interactive Power BI dashboard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FF"/>
                </a:solidFill>
              </a:rPr>
              <a:t>Technology: Computer Vision + Machine Learning + Cloud Computing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548640" y="1143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601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Build end-to-end AI surveillance system from scratch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48640" y="1600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1554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Implement object detection (persons, vehicles, weapons)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0574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548640" y="20574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20116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Develop anomaly detection for unusual activities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25146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4864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60120" y="24688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Reduce false alarm rates using confidence scoring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29718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548640" y="2971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9601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Deploy scalable solution on Microsoft Azure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34290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548640" y="3429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6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960120" y="3383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Create real-time monitoring dashboard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274320" cy="27432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/>
          <p:nvPr/>
        </p:nvSpPr>
        <p:spPr>
          <a:xfrm>
            <a:off x="548640" y="38862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</a:rPr>
              <a:t>7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9601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Align with Microsoft Elevate learning objectives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Objectives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9436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datasets (UCF-Crime, xView)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466344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800600" y="1188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74920" y="123444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object detection model (&gt;90% accuracy)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5720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9436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868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ensemble anomaly detection (Isolation Forest + RF)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33172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63440" y="233172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00600" y="24231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Develop alert prioritization system (&lt;20% false positives)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on Azure (Functions, Blob Storage, Cosmos DB)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3566160"/>
            <a:ext cx="402336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4663440" y="356616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800600" y="36576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74920" y="3703320"/>
            <a:ext cx="3474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Power BI dashboard for real-time monitoring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Detection Module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object detection (persons, vehicles, weapons)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Frame-by-frame video analysis (30+ FPS)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Bounding box generation with confidence scores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463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Anomaly Detection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69164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69164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Identify unusual movement patterns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196596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196596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 suspicious activities automatically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240280"/>
            <a:ext cx="182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240280"/>
            <a:ext cx="3383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Machine learning-based classification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457200" y="2926080"/>
            <a:ext cx="8229600" cy="16459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Powered by YOLOv8 + Ensemble Machine Learning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914400" y="3657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</a:rPr>
              <a:t>Combining state-of-the-art deep learning with traditional ML for robust threat detection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(Continued)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Alert System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4008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2296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Priority-based alert generation (High/Medium/Low)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filtering using confidence thresholding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Notification via email/SMS for critical alerts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097280"/>
            <a:ext cx="3931920" cy="16459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2344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12344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4937760" y="1737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5120640" y="1737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Real-time alert feed (last 24 hours)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2057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120640" y="2057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Anomaly heatmap showing high-risk zones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120640" y="23774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count trends and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Seamless Integration</a:t>
            </a:r>
            <a:endParaRPr lang="en-US" sz="2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47472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3152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Video Input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155448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77440" y="347472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9456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AI Processing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301752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3474720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65760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Alerts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448056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47472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12064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Cloud Storage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943600" y="36118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D9FF"/>
                </a:solidFill>
              </a:rPr>
              <a:t>→</a:t>
            </a:r>
            <a:endParaRPr lang="en-US" sz="20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0" y="3474720"/>
            <a:ext cx="457200" cy="45720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583680" y="402336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8D8"/>
                </a:solidFill>
              </a:rPr>
              <a:t>Dashboard</a:t>
            </a:r>
            <a:endParaRPr lang="en-US" sz="1000" dirty="0"/>
          </a:p>
        </p:txBody>
      </p:sp>
    </p:spTree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0058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12592" y="97523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18246" y="9829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0515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 Input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Frame Extraction (OpenCV)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4874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371600" y="15087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741106" y="1515029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43565" y="1524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1554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Resize, Normalize, Upload to Azure Blob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191249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371600" y="201168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731520" y="204965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35945" y="20345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54480" y="2057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Detection Layer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057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Object Detection + Anomaly Detection (Ensemble)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22960" y="242316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371600" y="251460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31520" y="258318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3152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2560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Alert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931920" y="2560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Confidence Filtering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2133" y="2920918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371600" y="301752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731520" y="3063240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31520" y="3063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54480" y="30632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Notification Layer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3063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Email/SMS Alerts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3460526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735945" y="3635478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31520" y="36432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54480" y="35661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Visualization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931920" y="3566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Power BI Dashboard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32546" y="4008980"/>
            <a:ext cx="18288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371600" y="4023360"/>
            <a:ext cx="6400800" cy="4572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31520" y="4167894"/>
            <a:ext cx="365760" cy="365760"/>
          </a:xfrm>
          <a:prstGeom prst="ellipse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31520" y="416789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</a:rPr>
              <a:t>7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554480" y="40690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Storage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931920" y="4069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Azure Blob + Cosmos DB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1148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1" y="1028700"/>
            <a:ext cx="3931920" cy="21031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Programming &amp; Libraries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15087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1508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Python 3.9+ (Core language)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31520" y="178308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7830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OpenCV (Video processing)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1520" y="205740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" y="2057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TensorFlow, Keras (Deep Learning)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233172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14400" y="23317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Scikit-learn (Machine Learning)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" y="260604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606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Pandas, NumPy (Data manipulation)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31520" y="2880360"/>
            <a:ext cx="137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</a:rPr>
              <a:t>•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28803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Matplotlib, Seaborn (Visualization)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05840"/>
            <a:ext cx="3931920" cy="210312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257300"/>
            <a:ext cx="914400" cy="9144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92040" y="2185711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Object Detection</a:t>
            </a:r>
            <a:endParaRPr lang="en-US" sz="1800" dirty="0"/>
          </a:p>
        </p:txBody>
      </p:sp>
      <p:sp>
        <p:nvSpPr>
          <p:cNvPr id="21" name="Text 17"/>
          <p:cNvSpPr/>
          <p:nvPr/>
        </p:nvSpPr>
        <p:spPr>
          <a:xfrm>
            <a:off x="4937760" y="25374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YOLOv8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4937760" y="2811780"/>
            <a:ext cx="3566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(Ultralytics)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457200" y="338328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/>
          <p:nvPr/>
        </p:nvSpPr>
        <p:spPr>
          <a:xfrm>
            <a:off x="914400" y="3566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Leveraging industry-standard tools and frameworks for production-grade AI development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conveyor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86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Deployment Stack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05840"/>
            <a:ext cx="5303520" cy="18288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1143000"/>
            <a:ext cx="274320" cy="2743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143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Microsoft Azure Services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640080" y="150876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22960" y="1508760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Blob Storage (Video/frame storage)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40080" y="175564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822960" y="1755648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Functions (Serverless processing)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40080" y="200253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22960" y="2002536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Cosmos DB (Alert logs, metadata)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40080" y="2249424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22960" y="2249424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Computer Vision API (Enhanced analysis)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0080" y="2496312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822960" y="249631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Azure Application Insights (Monitoring)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57200" y="3017520"/>
            <a:ext cx="256032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154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DevOps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22960" y="35204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GitHub Actions (CI/CD)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400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22960" y="3767328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Docker (Containerization)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3200400" y="3017520"/>
            <a:ext cx="2743200" cy="109728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3280" y="3154680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3749040" y="31546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9FF"/>
                </a:solidFill>
              </a:rPr>
              <a:t>Business Intelligence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3383280" y="35204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3566160" y="3520440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Power BI (Dashboard)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383280" y="376732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3566160" y="3767328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</a:rPr>
              <a:t>DAX (Custom metrics)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126480" y="1005840"/>
            <a:ext cx="2560320" cy="3108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1645920"/>
            <a:ext cx="1097280" cy="10972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6309360" y="29260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9FF"/>
                </a:solidFill>
              </a:rPr>
              <a:t>Azure Cloud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6309360" y="3291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Scalable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Secure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</a:rPr>
              <a:t>Reliable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2336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 for Training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457200" y="1097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85800" y="1188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UCF-Crime Dataset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05840" y="1508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128 hours of surveillance footage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1,900 videos with 13 anomaly types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Anomaly detection training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240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1"/>
          <p:cNvSpPr/>
          <p:nvPr/>
        </p:nvSpPr>
        <p:spPr>
          <a:xfrm>
            <a:off x="457200" y="2240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685800" y="2331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xView Satellite Dataset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05840" y="2651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 million+ annotated objects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2862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0.3m resolution satellite imagery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22960" y="3072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1005840" y="3072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Object detection training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383280"/>
            <a:ext cx="8229600" cy="10515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457200" y="3383280"/>
            <a:ext cx="73152" cy="1051560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/>
          <p:nvPr/>
        </p:nvSpPr>
        <p:spPr>
          <a:xfrm>
            <a:off x="68580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DOTA (Aerial Images)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05840" y="3794760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280,000 annotated objects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822960" y="4005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005840" y="4005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15 object categories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005840" y="4215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Use: Vehicle/infrastructure detection</a:t>
            </a:r>
            <a:endParaRPr lang="en-US" sz="1100" dirty="0"/>
          </a:p>
        </p:txBody>
      </p:sp>
    </p:spTree>
  </p:cSld>
  <p:clrMapOvr>
    <a:masterClrMapping/>
  </p:clrMapOvr>
  <p:transition spd="slow"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1-4)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1-2: Foundation &amp; Dataset Preparation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Download UCF-Crime and xView datasets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Perform EDA on surveillance videos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Python environment and Azure account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Document findings in Jupyter notebooks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892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3-4: Object Detection Development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YOLOv8 model on border surveillance data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Fine-tune with custom annotations (Roboflow)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Achieve &gt;90% detection accuracy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Evaluate model performance (precision, recall)</a:t>
            </a:r>
            <a:endParaRPr lang="en-US" sz="1200" dirty="0"/>
          </a:p>
        </p:txBody>
      </p:sp>
    </p:spTree>
  </p:cSld>
  <p:clrMapOvr>
    <a:masterClrMapping/>
  </p:clrMapOvr>
  <p:transition spd="slow">
    <p:wheel spokes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5-8)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11580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5-6: Anomaly Detection System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Extract features (optical flow, spatial patterns)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Train ensemble models (Isolation Forest + Random Forest)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alert prioritization logic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on validation dataset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501445" y="2793492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7-8: Azure Cloud Integration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Deploy models to Azure Functions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Setup Blob Storage for video/frame storage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Configure Cosmos DB for alert logs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CI/CD pipeline with GitHub Actions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Timeline (Weeks 9-12)</a:t>
            </a:r>
            <a:endParaRPr lang="en-US" sz="3600" dirty="0"/>
          </a:p>
        </p:txBody>
      </p:sp>
      <p:sp>
        <p:nvSpPr>
          <p:cNvPr id="4" name="Shape 1"/>
          <p:cNvSpPr/>
          <p:nvPr/>
        </p:nvSpPr>
        <p:spPr>
          <a:xfrm>
            <a:off x="457200" y="120700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Week 9-10: Dashboard &amp; Visualization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Build Power BI dashboard (real-time alerts, heatmaps)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Create Streamlit web app (alternative)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Implement email/SMS notification system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Test end-to-end alert flow</a:t>
            </a:r>
            <a:endParaRPr lang="en-US" sz="1200" dirty="0"/>
          </a:p>
        </p:txBody>
      </p:sp>
      <p:sp>
        <p:nvSpPr>
          <p:cNvPr id="14" name="Shape 7"/>
          <p:cNvSpPr/>
          <p:nvPr/>
        </p:nvSpPr>
        <p:spPr>
          <a:xfrm>
            <a:off x="457200" y="2784348"/>
            <a:ext cx="8229600" cy="13716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8"/>
          <p:cNvSpPr/>
          <p:nvPr/>
        </p:nvSpPr>
        <p:spPr>
          <a:xfrm>
            <a:off x="640080" y="27889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Week 11-12: Testing &amp; Documentation</a:t>
            </a:r>
            <a:endParaRPr lang="en-US" sz="18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08960"/>
            <a:ext cx="228600" cy="22860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51560" y="315468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System testing (various scenarios, stress test)</a:t>
            </a:r>
            <a:endParaRPr lang="en-US" sz="12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64992"/>
            <a:ext cx="228600" cy="228600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051560" y="341071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Complete GitHub repository (clean code, README)</a:t>
            </a:r>
            <a:endParaRPr lang="en-US" sz="1200" dirty="0"/>
          </a:p>
        </p:txBody>
      </p:sp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21024"/>
            <a:ext cx="228600" cy="22860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051560" y="366674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Write project report (15-20 pages)</a:t>
            </a:r>
            <a:endParaRPr lang="en-US" sz="1200" dirty="0"/>
          </a:p>
        </p:txBody>
      </p:sp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877056"/>
            <a:ext cx="228600" cy="22860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1051560" y="392277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Prepare demo video and presentation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Success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196596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Deliverables</a:t>
            </a:r>
            <a:endParaRPr lang="en-US" sz="1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087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Trained YOLOv8 model (object detection)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09928"/>
            <a:ext cx="182880" cy="182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17556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Ensemble anomaly detection model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56816"/>
            <a:ext cx="182880" cy="1828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05840" y="20025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Azure-deployed cloud system</a:t>
            </a:r>
            <a:endParaRPr lang="en-US" sz="11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03704"/>
            <a:ext cx="182880" cy="18288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2494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Power BI real-time dashboard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450592"/>
            <a:ext cx="182880" cy="18288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05840" y="249631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Complete GitHub repository</a:t>
            </a:r>
            <a:endParaRPr lang="en-US" sz="11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97480"/>
            <a:ext cx="182880" cy="18288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Project report (15-20 pages)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729808" y="1019556"/>
            <a:ext cx="3931920" cy="196596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0"/>
          <p:cNvSpPr/>
          <p:nvPr/>
        </p:nvSpPr>
        <p:spPr>
          <a:xfrm>
            <a:off x="493776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Success Metrics</a:t>
            </a:r>
            <a:endParaRPr lang="en-US" sz="1800" dirty="0"/>
          </a:p>
        </p:txBody>
      </p:sp>
      <p:sp>
        <p:nvSpPr>
          <p:cNvPr id="19" name="Text 11"/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Detection Accuracy</a:t>
            </a:r>
            <a:endParaRPr lang="en-US" sz="1200" dirty="0"/>
          </a:p>
        </p:txBody>
      </p:sp>
      <p:sp>
        <p:nvSpPr>
          <p:cNvPr id="20" name="Text 12"/>
          <p:cNvSpPr/>
          <p:nvPr/>
        </p:nvSpPr>
        <p:spPr>
          <a:xfrm>
            <a:off x="6120580" y="1609344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&gt;90% (Industry standard for surveillance)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False Positive Rate</a:t>
            </a:r>
            <a:endParaRPr lang="en-US" sz="1200" dirty="0"/>
          </a:p>
        </p:txBody>
      </p:sp>
      <p:sp>
        <p:nvSpPr>
          <p:cNvPr id="22" name="Text 14"/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&lt;20% (Significantly better than 30-40% manual rate)</a:t>
            </a:r>
            <a:endParaRPr lang="en-US" sz="1000" dirty="0"/>
          </a:p>
        </p:txBody>
      </p:sp>
      <p:sp>
        <p:nvSpPr>
          <p:cNvPr id="23" name="Text 15"/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Processing Speed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6101408" y="2338578"/>
            <a:ext cx="1808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&gt;20 FPS (Real-time capability)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Alert Response Time</a:t>
            </a: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D9FF"/>
                </a:solidFill>
              </a:rPr>
              <a:t>&lt;1 sec (Instant notification)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457200" y="3108960"/>
            <a:ext cx="8229600" cy="91440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0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Production-Ready AI System for National Security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4F363F-AD73-33A8-6A87-7BDE5810A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075C83AB-C115-98F7-0411-243A48B246C4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2337F-AAD2-F00B-BF61-7D065348CF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B7A11568-D560-44D3-A0E7-2C7F080B608D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(Week 1-7)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93D44A75-684B-EABF-55F6-3BB2DE91BD96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3C55D45C-28D8-FF4E-C2EE-8BB0440DA0F4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Current Status: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FD6F4065-BE2E-F1D1-2E07-8ED05200D621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</a:rPr>
              <a:t>Week 7 of 12 - On Track</a:t>
            </a:r>
            <a:endParaRPr lang="en-US" sz="1200" b="1" dirty="0"/>
          </a:p>
        </p:txBody>
      </p:sp>
      <p:sp>
        <p:nvSpPr>
          <p:cNvPr id="44" name="Text 4">
            <a:extLst>
              <a:ext uri="{FF2B5EF4-FFF2-40B4-BE49-F238E27FC236}">
                <a16:creationId xmlns:a16="http://schemas.microsoft.com/office/drawing/2014/main" id="{A924B378-81B2-BFE9-FBD5-8F220CA2FC97}"/>
              </a:ext>
            </a:extLst>
          </p:cNvPr>
          <p:cNvSpPr/>
          <p:nvPr/>
        </p:nvSpPr>
        <p:spPr>
          <a:xfrm>
            <a:off x="1051560" y="185623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Deep Learning foundation completed (CNN, ANN, Transfer Learning)</a:t>
            </a:r>
          </a:p>
        </p:txBody>
      </p:sp>
      <p:pic>
        <p:nvPicPr>
          <p:cNvPr id="45" name="Image 3" descr="preencoded.png">
            <a:extLst>
              <a:ext uri="{FF2B5EF4-FFF2-40B4-BE49-F238E27FC236}">
                <a16:creationId xmlns:a16="http://schemas.microsoft.com/office/drawing/2014/main" id="{9F6BC5AF-7BC7-AADA-404C-51BCA9BD51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066544"/>
            <a:ext cx="228600" cy="228600"/>
          </a:xfrm>
          <a:prstGeom prst="rect">
            <a:avLst/>
          </a:prstGeom>
        </p:spPr>
      </p:pic>
      <p:sp>
        <p:nvSpPr>
          <p:cNvPr id="46" name="Text 5">
            <a:extLst>
              <a:ext uri="{FF2B5EF4-FFF2-40B4-BE49-F238E27FC236}">
                <a16:creationId xmlns:a16="http://schemas.microsoft.com/office/drawing/2014/main" id="{E6B9E24C-D976-11FA-A59F-56BA7B45F9C9}"/>
              </a:ext>
            </a:extLst>
          </p:cNvPr>
          <p:cNvSpPr/>
          <p:nvPr/>
        </p:nvSpPr>
        <p:spPr>
          <a:xfrm>
            <a:off x="1051560" y="211226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YOLOv8 installed and tested on sample surveillance footage</a:t>
            </a:r>
            <a:endParaRPr lang="en-US" sz="1200" dirty="0"/>
          </a:p>
        </p:txBody>
      </p:sp>
      <p:pic>
        <p:nvPicPr>
          <p:cNvPr id="47" name="Image 4" descr="preencoded.png">
            <a:extLst>
              <a:ext uri="{FF2B5EF4-FFF2-40B4-BE49-F238E27FC236}">
                <a16:creationId xmlns:a16="http://schemas.microsoft.com/office/drawing/2014/main" id="{6E5A0072-A9C1-131D-2408-CDC104396C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322576"/>
            <a:ext cx="228600" cy="228600"/>
          </a:xfrm>
          <a:prstGeom prst="rect">
            <a:avLst/>
          </a:prstGeom>
        </p:spPr>
      </p:pic>
      <p:sp>
        <p:nvSpPr>
          <p:cNvPr id="48" name="Text 6">
            <a:extLst>
              <a:ext uri="{FF2B5EF4-FFF2-40B4-BE49-F238E27FC236}">
                <a16:creationId xmlns:a16="http://schemas.microsoft.com/office/drawing/2014/main" id="{DC51A05D-AF69-43F9-AC20-5E0932F3CCED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prepared: 850 frames extracted from UCF-Crime videos</a:t>
            </a:r>
            <a:endParaRPr lang="en-US" sz="1200" dirty="0"/>
          </a:p>
        </p:txBody>
      </p:sp>
      <p:pic>
        <p:nvPicPr>
          <p:cNvPr id="49" name="Image 1" descr="preencoded.png">
            <a:extLst>
              <a:ext uri="{FF2B5EF4-FFF2-40B4-BE49-F238E27FC236}">
                <a16:creationId xmlns:a16="http://schemas.microsoft.com/office/drawing/2014/main" id="{C6C737E4-BC13-0057-94ED-CB8FE15355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554480"/>
            <a:ext cx="228600" cy="228600"/>
          </a:xfrm>
          <a:prstGeom prst="rect">
            <a:avLst/>
          </a:prstGeom>
        </p:spPr>
      </p:pic>
      <p:pic>
        <p:nvPicPr>
          <p:cNvPr id="50" name="Image 2" descr="preencoded.png">
            <a:extLst>
              <a:ext uri="{FF2B5EF4-FFF2-40B4-BE49-F238E27FC236}">
                <a16:creationId xmlns:a16="http://schemas.microsoft.com/office/drawing/2014/main" id="{A273E4C3-8DEB-B651-4323-95C4BDEAE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10512"/>
            <a:ext cx="228600" cy="228600"/>
          </a:xfrm>
          <a:prstGeom prst="rect">
            <a:avLst/>
          </a:prstGeom>
        </p:spPr>
      </p:pic>
      <p:sp>
        <p:nvSpPr>
          <p:cNvPr id="51" name="Shape 1">
            <a:extLst>
              <a:ext uri="{FF2B5EF4-FFF2-40B4-BE49-F238E27FC236}">
                <a16:creationId xmlns:a16="http://schemas.microsoft.com/office/drawing/2014/main" id="{8ADD8F1D-BA08-994E-504C-05EC07E167D8}"/>
              </a:ext>
            </a:extLst>
          </p:cNvPr>
          <p:cNvSpPr/>
          <p:nvPr/>
        </p:nvSpPr>
        <p:spPr>
          <a:xfrm>
            <a:off x="457200" y="2933700"/>
            <a:ext cx="8229600" cy="184404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CB8077B6-1AE9-8D8D-584D-2084D82CCDAD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Completed Phases:</a:t>
            </a: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5E4FE565-6C11-D4A6-6014-79E94805040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1: Foundation (Week 1-2) - Data Analytics, EDA, Power BI modules</a:t>
            </a: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BA894298-8A0A-FD75-BA04-5C75E44B77C5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2: Machine Learning (Week 3-5) - Supervised, Unsupervised, Reinforcement Learning </a:t>
            </a: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9394A255-A767-B654-1F64-75BE156F942C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Phase 3: Deep Learning (Week 6-7) - Neural Networks, CNN, TensorFlow/</a:t>
            </a:r>
            <a:r>
              <a:rPr lang="en-US" sz="1200" dirty="0" err="1">
                <a:solidFill>
                  <a:srgbClr val="CADCFC"/>
                </a:solidFill>
              </a:rPr>
              <a:t>Keras</a:t>
            </a:r>
            <a:endParaRPr lang="en-US" sz="1200" dirty="0"/>
          </a:p>
        </p:txBody>
      </p:sp>
      <p:pic>
        <p:nvPicPr>
          <p:cNvPr id="56" name="Image 4" descr="preencoded.png">
            <a:extLst>
              <a:ext uri="{FF2B5EF4-FFF2-40B4-BE49-F238E27FC236}">
                <a16:creationId xmlns:a16="http://schemas.microsoft.com/office/drawing/2014/main" id="{0A8C5C79-A68F-D0B9-F661-C2D37BD00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59758"/>
            <a:ext cx="228600" cy="228600"/>
          </a:xfrm>
          <a:prstGeom prst="rect">
            <a:avLst/>
          </a:prstGeom>
        </p:spPr>
      </p:pic>
      <p:sp>
        <p:nvSpPr>
          <p:cNvPr id="57" name="Text 6">
            <a:extLst>
              <a:ext uri="{FF2B5EF4-FFF2-40B4-BE49-F238E27FC236}">
                <a16:creationId xmlns:a16="http://schemas.microsoft.com/office/drawing/2014/main" id="{B85C9AF2-B2F1-E1B8-C90F-669D0839E2B3}"/>
              </a:ext>
            </a:extLst>
          </p:cNvPr>
          <p:cNvSpPr/>
          <p:nvPr/>
        </p:nvSpPr>
        <p:spPr>
          <a:xfrm>
            <a:off x="1051560" y="42054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Environment Setup - Python, TensorFlow, OpenCV, YOLOv8, Azure account</a:t>
            </a:r>
            <a:endParaRPr lang="en-US" sz="1200" dirty="0"/>
          </a:p>
        </p:txBody>
      </p:sp>
      <p:pic>
        <p:nvPicPr>
          <p:cNvPr id="58" name="Image 1" descr="preencoded.png">
            <a:extLst>
              <a:ext uri="{FF2B5EF4-FFF2-40B4-BE49-F238E27FC236}">
                <a16:creationId xmlns:a16="http://schemas.microsoft.com/office/drawing/2014/main" id="{33EC8842-2770-C33E-A03C-8EDE4D6BC9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91662"/>
            <a:ext cx="228600" cy="228600"/>
          </a:xfrm>
          <a:prstGeom prst="rect">
            <a:avLst/>
          </a:prstGeom>
        </p:spPr>
      </p:pic>
      <p:pic>
        <p:nvPicPr>
          <p:cNvPr id="59" name="Image 2" descr="preencoded.png">
            <a:extLst>
              <a:ext uri="{FF2B5EF4-FFF2-40B4-BE49-F238E27FC236}">
                <a16:creationId xmlns:a16="http://schemas.microsoft.com/office/drawing/2014/main" id="{FA52E49C-0FF9-D8C5-3E09-1582BD965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647694"/>
            <a:ext cx="228600" cy="228600"/>
          </a:xfrm>
          <a:prstGeom prst="rect">
            <a:avLst/>
          </a:prstGeom>
        </p:spPr>
      </p:pic>
      <p:pic>
        <p:nvPicPr>
          <p:cNvPr id="60" name="Image 3" descr="preencoded.png">
            <a:extLst>
              <a:ext uri="{FF2B5EF4-FFF2-40B4-BE49-F238E27FC236}">
                <a16:creationId xmlns:a16="http://schemas.microsoft.com/office/drawing/2014/main" id="{1EAF5C1B-BA70-809A-68C3-379F6A26D3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40" y="3903726"/>
            <a:ext cx="228600" cy="228600"/>
          </a:xfrm>
          <a:prstGeom prst="rect">
            <a:avLst/>
          </a:prstGeom>
        </p:spPr>
      </p:pic>
      <p:pic>
        <p:nvPicPr>
          <p:cNvPr id="61" name="Image 4" descr="preencoded.png">
            <a:extLst>
              <a:ext uri="{FF2B5EF4-FFF2-40B4-BE49-F238E27FC236}">
                <a16:creationId xmlns:a16="http://schemas.microsoft.com/office/drawing/2014/main" id="{04366092-0E70-8444-031E-BE911DDFC4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443222"/>
            <a:ext cx="228600" cy="228600"/>
          </a:xfrm>
          <a:prstGeom prst="rect">
            <a:avLst/>
          </a:prstGeom>
        </p:spPr>
      </p:pic>
      <p:sp>
        <p:nvSpPr>
          <p:cNvPr id="62" name="Text 6">
            <a:extLst>
              <a:ext uri="{FF2B5EF4-FFF2-40B4-BE49-F238E27FC236}">
                <a16:creationId xmlns:a16="http://schemas.microsoft.com/office/drawing/2014/main" id="{E5E8D949-D87D-61B6-4904-B229261EA90F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Dataset Collection - 850 surveillance frames organized in train/</a:t>
            </a:r>
            <a:r>
              <a:rPr lang="en-US" sz="1200" dirty="0" err="1">
                <a:solidFill>
                  <a:srgbClr val="CADCFC"/>
                </a:solidFill>
              </a:rPr>
              <a:t>val</a:t>
            </a:r>
            <a:r>
              <a:rPr lang="en-US" sz="1200" dirty="0">
                <a:solidFill>
                  <a:srgbClr val="CADCFC"/>
                </a:solidFill>
              </a:rPr>
              <a:t> splits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922141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B80FF5-1C0E-90E2-17F7-8C29E448E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0">
            <a:extLst>
              <a:ext uri="{FF2B5EF4-FFF2-40B4-BE49-F238E27FC236}">
                <a16:creationId xmlns:a16="http://schemas.microsoft.com/office/drawing/2014/main" id="{41BA4956-03DE-FEB5-EFBB-2B9BC5FB11D7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6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CEF9D98-BF4A-853B-D48F-1B12794E0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240" y="365760"/>
            <a:ext cx="457200" cy="457200"/>
          </a:xfrm>
          <a:prstGeom prst="rect">
            <a:avLst/>
          </a:prstGeom>
        </p:spPr>
      </p:pic>
      <p:sp>
        <p:nvSpPr>
          <p:cNvPr id="33" name="Text 0">
            <a:extLst>
              <a:ext uri="{FF2B5EF4-FFF2-40B4-BE49-F238E27FC236}">
                <a16:creationId xmlns:a16="http://schemas.microsoft.com/office/drawing/2014/main" id="{030E7A9E-833D-01A2-0FF9-51CBC70ED9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Overview (Continued)</a:t>
            </a:r>
          </a:p>
        </p:txBody>
      </p:sp>
      <p:sp>
        <p:nvSpPr>
          <p:cNvPr id="41" name="Shape 1">
            <a:extLst>
              <a:ext uri="{FF2B5EF4-FFF2-40B4-BE49-F238E27FC236}">
                <a16:creationId xmlns:a16="http://schemas.microsoft.com/office/drawing/2014/main" id="{2F4B84A3-5176-9211-ECC5-872481EBBDF0}"/>
              </a:ext>
            </a:extLst>
          </p:cNvPr>
          <p:cNvSpPr/>
          <p:nvPr/>
        </p:nvSpPr>
        <p:spPr>
          <a:xfrm>
            <a:off x="457200" y="1181100"/>
            <a:ext cx="8229600" cy="1479042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2">
            <a:extLst>
              <a:ext uri="{FF2B5EF4-FFF2-40B4-BE49-F238E27FC236}">
                <a16:creationId xmlns:a16="http://schemas.microsoft.com/office/drawing/2014/main" id="{1B01FC32-CE53-B24A-336A-C5C5D42F7B97}"/>
              </a:ext>
            </a:extLst>
          </p:cNvPr>
          <p:cNvSpPr/>
          <p:nvPr/>
        </p:nvSpPr>
        <p:spPr>
          <a:xfrm>
            <a:off x="640080" y="1234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FF6B35"/>
                </a:solidFill>
              </a:rPr>
              <a:t>Ongoing Tasks (Week 8):</a:t>
            </a:r>
          </a:p>
        </p:txBody>
      </p:sp>
      <p:sp>
        <p:nvSpPr>
          <p:cNvPr id="43" name="Text 3">
            <a:extLst>
              <a:ext uri="{FF2B5EF4-FFF2-40B4-BE49-F238E27FC236}">
                <a16:creationId xmlns:a16="http://schemas.microsoft.com/office/drawing/2014/main" id="{14869A64-F93D-6CE6-D3F6-0F9AC06F0CC6}"/>
              </a:ext>
            </a:extLst>
          </p:cNvPr>
          <p:cNvSpPr/>
          <p:nvPr/>
        </p:nvSpPr>
        <p:spPr>
          <a:xfrm>
            <a:off x="1051560" y="16002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b="1" dirty="0"/>
          </a:p>
        </p:txBody>
      </p:sp>
      <p:sp>
        <p:nvSpPr>
          <p:cNvPr id="46" name="Text 5">
            <a:extLst>
              <a:ext uri="{FF2B5EF4-FFF2-40B4-BE49-F238E27FC236}">
                <a16:creationId xmlns:a16="http://schemas.microsoft.com/office/drawing/2014/main" id="{60EA056F-DC47-B89A-5E7B-D31FD53C073B}"/>
              </a:ext>
            </a:extLst>
          </p:cNvPr>
          <p:cNvSpPr/>
          <p:nvPr/>
        </p:nvSpPr>
        <p:spPr>
          <a:xfrm>
            <a:off x="624840" y="192862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Dataset annotation with bounding boxes (680 training + 170 validation frames)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YOLOv8 fine-tuning on custom surveillance dataset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Azure cloud setup (Storage Account, Blob containers)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⏳ Implementation of anomaly detection ensemble model</a:t>
            </a:r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DBBD315F-57A8-4FF4-2382-3FAA7D154F11}"/>
              </a:ext>
            </a:extLst>
          </p:cNvPr>
          <p:cNvSpPr/>
          <p:nvPr/>
        </p:nvSpPr>
        <p:spPr>
          <a:xfrm>
            <a:off x="1051560" y="236829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Text 2">
            <a:extLst>
              <a:ext uri="{FF2B5EF4-FFF2-40B4-BE49-F238E27FC236}">
                <a16:creationId xmlns:a16="http://schemas.microsoft.com/office/drawing/2014/main" id="{DA46EDFA-9DC5-4FDB-B288-1340594D5CA5}"/>
              </a:ext>
            </a:extLst>
          </p:cNvPr>
          <p:cNvSpPr/>
          <p:nvPr/>
        </p:nvSpPr>
        <p:spPr>
          <a:xfrm>
            <a:off x="640080" y="3002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b="1" dirty="0">
              <a:solidFill>
                <a:srgbClr val="00D9FF"/>
              </a:solidFill>
            </a:endParaRPr>
          </a:p>
        </p:txBody>
      </p:sp>
      <p:sp>
        <p:nvSpPr>
          <p:cNvPr id="53" name="Text 3">
            <a:extLst>
              <a:ext uri="{FF2B5EF4-FFF2-40B4-BE49-F238E27FC236}">
                <a16:creationId xmlns:a16="http://schemas.microsoft.com/office/drawing/2014/main" id="{221D5DB7-45F8-B1F6-AB9C-CC67D4EE874E}"/>
              </a:ext>
            </a:extLst>
          </p:cNvPr>
          <p:cNvSpPr/>
          <p:nvPr/>
        </p:nvSpPr>
        <p:spPr>
          <a:xfrm>
            <a:off x="1051560" y="3437382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54" name="Text 4">
            <a:extLst>
              <a:ext uri="{FF2B5EF4-FFF2-40B4-BE49-F238E27FC236}">
                <a16:creationId xmlns:a16="http://schemas.microsoft.com/office/drawing/2014/main" id="{33ACFD31-E823-BF1A-3FFE-4A31E081ED3B}"/>
              </a:ext>
            </a:extLst>
          </p:cNvPr>
          <p:cNvSpPr/>
          <p:nvPr/>
        </p:nvSpPr>
        <p:spPr>
          <a:xfrm>
            <a:off x="1051560" y="3693414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>
              <a:solidFill>
                <a:srgbClr val="CADCFC"/>
              </a:solidFill>
            </a:endParaRPr>
          </a:p>
        </p:txBody>
      </p:sp>
      <p:sp>
        <p:nvSpPr>
          <p:cNvPr id="55" name="Text 5">
            <a:extLst>
              <a:ext uri="{FF2B5EF4-FFF2-40B4-BE49-F238E27FC236}">
                <a16:creationId xmlns:a16="http://schemas.microsoft.com/office/drawing/2014/main" id="{4C83F32B-BC77-58A7-7B06-5164A2E97A60}"/>
              </a:ext>
            </a:extLst>
          </p:cNvPr>
          <p:cNvSpPr/>
          <p:nvPr/>
        </p:nvSpPr>
        <p:spPr>
          <a:xfrm>
            <a:off x="1051560" y="3949446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9A3674AD-5466-2B3E-93A4-FD30571DD570}"/>
              </a:ext>
            </a:extLst>
          </p:cNvPr>
          <p:cNvSpPr/>
          <p:nvPr/>
        </p:nvSpPr>
        <p:spPr>
          <a:xfrm>
            <a:off x="1051560" y="4472178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431725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D9FF"/>
                </a:solidFill>
              </a:rPr>
              <a:t>This project demonstrates:</a:t>
            </a:r>
            <a:endParaRPr lang="en-US" sz="18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155448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Practical application of AI/ML in national security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37360" y="187452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Integration of Microsoft Elevate learnings (all 12 weeks)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148840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37360" y="219456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End-to-end system development (data → deployment)</a:t>
            </a:r>
            <a:endParaRPr lang="en-US" sz="13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68880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737360" y="251460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Cloud computing skills using Azure platform</a:t>
            </a:r>
            <a:endParaRPr lang="en-US" sz="13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788920"/>
            <a:ext cx="228600" cy="2286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737360" y="2834640"/>
            <a:ext cx="6035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Real-world problem-solving approach</a:t>
            </a:r>
            <a:endParaRPr lang="en-US" sz="1300" dirty="0"/>
          </a:p>
        </p:txBody>
      </p:sp>
      <p:sp>
        <p:nvSpPr>
          <p:cNvPr id="14" name="Text 7"/>
          <p:cNvSpPr/>
          <p:nvPr/>
        </p:nvSpPr>
        <p:spPr>
          <a:xfrm>
            <a:off x="457200" y="304038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35"/>
                </a:solidFill>
              </a:rPr>
              <a:t>Impact:</a:t>
            </a:r>
            <a:endParaRPr lang="en-US" sz="1800" dirty="0"/>
          </a:p>
        </p:txBody>
      </p:sp>
      <p:pic>
        <p:nvPicPr>
          <p:cNvPr id="15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383280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1965960" y="34290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Enhances border security through automation</a:t>
            </a:r>
            <a:endParaRPr lang="en-US" sz="130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675888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1965960" y="3721608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Reduces manual monitoring burden</a:t>
            </a:r>
            <a:endParaRPr lang="en-US" sz="1300" dirty="0"/>
          </a:p>
        </p:txBody>
      </p:sp>
      <p:pic>
        <p:nvPicPr>
          <p:cNvPr id="19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3968496"/>
            <a:ext cx="228600" cy="228600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965960" y="40142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Improves threat detection speed and accuracy</a:t>
            </a:r>
            <a:endParaRPr lang="en-US" sz="130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5920" y="4261104"/>
            <a:ext cx="228600" cy="228600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965960" y="430682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</a:rPr>
              <a:t>Scalable solution for large-scale surveillance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F1928D-0C17-DD18-5A83-026ACF559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AE9711-F76D-6713-D378-FDDB880EC04D}"/>
              </a:ext>
            </a:extLst>
          </p:cNvPr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6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- Code Snippets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C933059-D492-EAB0-423F-3B1AFACCBB32}"/>
              </a:ext>
            </a:extLst>
          </p:cNvPr>
          <p:cNvSpPr/>
          <p:nvPr/>
        </p:nvSpPr>
        <p:spPr>
          <a:xfrm>
            <a:off x="227863" y="1002410"/>
            <a:ext cx="2284526" cy="386562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A07E62-65C0-2771-62FC-BA2A9F1C0631}"/>
              </a:ext>
            </a:extLst>
          </p:cNvPr>
          <p:cNvSpPr/>
          <p:nvPr/>
        </p:nvSpPr>
        <p:spPr>
          <a:xfrm>
            <a:off x="363669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YOLOv8 Object Detection:</a:t>
            </a:r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B3EC3D90-8F85-A584-3550-AFF84223A777}"/>
              </a:ext>
            </a:extLst>
          </p:cNvPr>
          <p:cNvSpPr/>
          <p:nvPr/>
        </p:nvSpPr>
        <p:spPr>
          <a:xfrm>
            <a:off x="410742" y="2966430"/>
            <a:ext cx="1736007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ultralytics</a:t>
            </a:r>
            <a:r>
              <a:rPr lang="en-US" sz="1000" dirty="0">
                <a:solidFill>
                  <a:srgbClr val="CADCFC"/>
                </a:solidFill>
              </a:rPr>
              <a:t> import YOLO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Load YOLOv8 model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model = YOLO('yolov8n.pt')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Run inference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results = </a:t>
            </a:r>
            <a:r>
              <a:rPr lang="en-US" sz="1000" dirty="0" err="1">
                <a:solidFill>
                  <a:srgbClr val="CADCFC"/>
                </a:solidFill>
              </a:rPr>
              <a:t>model.predict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source='surveillance_frame.jpg',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conf=0.5,  # 50% confidence threshold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save=True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Process detections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for r in results: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boxes = </a:t>
            </a:r>
            <a:r>
              <a:rPr lang="en-US" sz="1000" dirty="0" err="1">
                <a:solidFill>
                  <a:srgbClr val="CADCFC"/>
                </a:solidFill>
              </a:rPr>
              <a:t>r.boxes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for box in boxes: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 = int(</a:t>
            </a:r>
            <a:r>
              <a:rPr lang="en-US" sz="1000" dirty="0" err="1">
                <a:solidFill>
                  <a:srgbClr val="CADCFC"/>
                </a:solidFill>
              </a:rPr>
              <a:t>box.cls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conf = float(</a:t>
            </a:r>
            <a:r>
              <a:rPr lang="en-US" sz="1000" dirty="0" err="1">
                <a:solidFill>
                  <a:srgbClr val="CADCFC"/>
                </a:solidFill>
              </a:rPr>
              <a:t>box.conf</a:t>
            </a:r>
            <a:r>
              <a:rPr lang="en-US" sz="1000" dirty="0">
                <a:solidFill>
                  <a:srgbClr val="CADCFC"/>
                </a:solidFill>
              </a:rPr>
              <a:t>[0])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print(</a:t>
            </a:r>
            <a:r>
              <a:rPr lang="en-US" sz="1000" dirty="0" err="1">
                <a:solidFill>
                  <a:srgbClr val="CADCFC"/>
                </a:solidFill>
              </a:rPr>
              <a:t>f"Detected</a:t>
            </a:r>
            <a:r>
              <a:rPr lang="en-US" sz="1000" dirty="0">
                <a:solidFill>
                  <a:srgbClr val="CADCFC"/>
                </a:solidFill>
              </a:rPr>
              <a:t>: {</a:t>
            </a:r>
            <a:r>
              <a:rPr lang="en-US" sz="1000" dirty="0" err="1">
                <a:solidFill>
                  <a:srgbClr val="CADCFC"/>
                </a:solidFill>
              </a:rPr>
              <a:t>model.names</a:t>
            </a:r>
            <a:r>
              <a:rPr lang="en-US" sz="1000" dirty="0">
                <a:solidFill>
                  <a:srgbClr val="CADCFC"/>
                </a:solidFill>
              </a:rPr>
              <a:t>[</a:t>
            </a:r>
            <a:r>
              <a:rPr lang="en-US" sz="1000" dirty="0" err="1">
                <a:solidFill>
                  <a:srgbClr val="CADCFC"/>
                </a:solidFill>
              </a:rPr>
              <a:t>cls</a:t>
            </a:r>
            <a:r>
              <a:rPr lang="en-US" sz="1000" dirty="0">
                <a:solidFill>
                  <a:srgbClr val="CADCFC"/>
                </a:solidFill>
              </a:rPr>
              <a:t>]}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      Confidence: {conf:.2f}")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009B2477-35ED-2326-8B1F-107E4F250DC0}"/>
              </a:ext>
            </a:extLst>
          </p:cNvPr>
          <p:cNvSpPr/>
          <p:nvPr/>
        </p:nvSpPr>
        <p:spPr>
          <a:xfrm>
            <a:off x="1005840" y="27432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7" name="Shape 9">
            <a:extLst>
              <a:ext uri="{FF2B5EF4-FFF2-40B4-BE49-F238E27FC236}">
                <a16:creationId xmlns:a16="http://schemas.microsoft.com/office/drawing/2014/main" id="{F9FE3E1D-6FF8-C2BF-2484-AE3170ECA4BE}"/>
              </a:ext>
            </a:extLst>
          </p:cNvPr>
          <p:cNvSpPr/>
          <p:nvPr/>
        </p:nvSpPr>
        <p:spPr>
          <a:xfrm>
            <a:off x="2858727" y="1002410"/>
            <a:ext cx="2690230" cy="4066796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30D2CA1-06C5-0B5A-1683-805206A7CC3B}"/>
              </a:ext>
            </a:extLst>
          </p:cNvPr>
          <p:cNvSpPr/>
          <p:nvPr/>
        </p:nvSpPr>
        <p:spPr>
          <a:xfrm>
            <a:off x="3046525" y="1096464"/>
            <a:ext cx="3050950" cy="3030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</a:rPr>
              <a:t>Anomaly Detection Ensemble:</a:t>
            </a: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B2EEF42-27B3-F6EE-E9C3-16AFEA6BE111}"/>
              </a:ext>
            </a:extLst>
          </p:cNvPr>
          <p:cNvSpPr/>
          <p:nvPr/>
        </p:nvSpPr>
        <p:spPr>
          <a:xfrm>
            <a:off x="50292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6179D7E5-0D6B-F895-ADEB-D27ACF229D88}"/>
              </a:ext>
            </a:extLst>
          </p:cNvPr>
          <p:cNvSpPr/>
          <p:nvPr/>
        </p:nvSpPr>
        <p:spPr>
          <a:xfrm>
            <a:off x="6120580" y="1572993"/>
            <a:ext cx="250870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4F539724-82C7-ED61-D278-49131AA3B722}"/>
              </a:ext>
            </a:extLst>
          </p:cNvPr>
          <p:cNvSpPr/>
          <p:nvPr/>
        </p:nvSpPr>
        <p:spPr>
          <a:xfrm>
            <a:off x="5029200" y="1965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8B7B752B-2C21-CA81-5A26-C5524ECF11AB}"/>
              </a:ext>
            </a:extLst>
          </p:cNvPr>
          <p:cNvSpPr/>
          <p:nvPr/>
        </p:nvSpPr>
        <p:spPr>
          <a:xfrm>
            <a:off x="5884606" y="2049288"/>
            <a:ext cx="26193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306A3535-A4EC-4AFC-7412-C2E9AF11A019}"/>
              </a:ext>
            </a:extLst>
          </p:cNvPr>
          <p:cNvSpPr/>
          <p:nvPr/>
        </p:nvSpPr>
        <p:spPr>
          <a:xfrm>
            <a:off x="5029200" y="2331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328C21A1-E352-E23F-B5B4-E5C8AA25A9F4}"/>
              </a:ext>
            </a:extLst>
          </p:cNvPr>
          <p:cNvSpPr/>
          <p:nvPr/>
        </p:nvSpPr>
        <p:spPr>
          <a:xfrm>
            <a:off x="3066679" y="2943224"/>
            <a:ext cx="2341305" cy="579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from </a:t>
            </a:r>
            <a:r>
              <a:rPr lang="en-US" sz="1000" b="1" dirty="0" err="1">
                <a:solidFill>
                  <a:srgbClr val="00D9FF"/>
                </a:solidFill>
              </a:rPr>
              <a:t>sklearn.ensemble</a:t>
            </a:r>
            <a:r>
              <a:rPr lang="en-US" sz="1000" b="1" dirty="0">
                <a:solidFill>
                  <a:srgbClr val="00D9FF"/>
                </a:solidFill>
              </a:rPr>
              <a:t> import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endParaRPr lang="en-US" sz="1000" b="1" dirty="0">
              <a:solidFill>
                <a:srgbClr val="00D9FF"/>
              </a:solidFill>
            </a:endParaRP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import </a:t>
            </a:r>
            <a:r>
              <a:rPr lang="en-US" sz="1000" b="1" dirty="0" err="1">
                <a:solidFill>
                  <a:srgbClr val="00D9FF"/>
                </a:solidFill>
              </a:rPr>
              <a:t>numpy</a:t>
            </a:r>
            <a:r>
              <a:rPr lang="en-US" sz="1000" b="1" dirty="0">
                <a:solidFill>
                  <a:srgbClr val="00D9FF"/>
                </a:solidFill>
              </a:rPr>
              <a:t> as np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Isolation Forest for anomaly detection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iso_forest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IsolationForest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contamination=0.1,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iso_forest.fit_predict</a:t>
            </a:r>
            <a:r>
              <a:rPr lang="en-US" sz="1000" b="1" dirty="0">
                <a:solidFill>
                  <a:srgbClr val="00D9FF"/>
                </a:solidFill>
              </a:rPr>
              <a:t>(features)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Random Forest classifier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RandomForestClassifier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n_estimators</a:t>
            </a:r>
            <a:r>
              <a:rPr lang="en-US" sz="1000" b="1" dirty="0">
                <a:solidFill>
                  <a:srgbClr val="00D9FF"/>
                </a:solidFill>
              </a:rPr>
              <a:t>=100,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</a:t>
            </a:r>
            <a:r>
              <a:rPr lang="en-US" sz="1000" b="1" dirty="0" err="1">
                <a:solidFill>
                  <a:srgbClr val="00D9FF"/>
                </a:solidFill>
              </a:rPr>
              <a:t>random_state</a:t>
            </a:r>
            <a:r>
              <a:rPr lang="en-US" sz="1000" b="1" dirty="0">
                <a:solidFill>
                  <a:srgbClr val="00D9FF"/>
                </a:solidFill>
              </a:rPr>
              <a:t>=42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rf_classifier.fit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X_train</a:t>
            </a:r>
            <a:r>
              <a:rPr lang="en-US" sz="1000" b="1" dirty="0">
                <a:solidFill>
                  <a:srgbClr val="00D9FF"/>
                </a:solidFill>
              </a:rPr>
              <a:t>, </a:t>
            </a:r>
            <a:r>
              <a:rPr lang="en-US" sz="1000" b="1" dirty="0" err="1">
                <a:solidFill>
                  <a:srgbClr val="00D9FF"/>
                </a:solidFill>
              </a:rPr>
              <a:t>y_train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rf_classifier.predict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  <a:r>
              <a:rPr lang="en-US" sz="1000" b="1" dirty="0" err="1">
                <a:solidFill>
                  <a:srgbClr val="00D9FF"/>
                </a:solidFill>
              </a:rPr>
              <a:t>X_test</a:t>
            </a: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# Ensemble voting</a:t>
            </a:r>
          </a:p>
          <a:p>
            <a:pPr marL="0" indent="0">
              <a:buNone/>
            </a:pPr>
            <a:r>
              <a:rPr lang="en-US" sz="1000" b="1" dirty="0" err="1">
                <a:solidFill>
                  <a:srgbClr val="00D9FF"/>
                </a:solidFill>
              </a:rPr>
              <a:t>final_predictions</a:t>
            </a:r>
            <a:r>
              <a:rPr lang="en-US" sz="1000" b="1" dirty="0">
                <a:solidFill>
                  <a:srgbClr val="00D9FF"/>
                </a:solidFill>
              </a:rPr>
              <a:t> = </a:t>
            </a:r>
            <a:r>
              <a:rPr lang="en-US" sz="1000" b="1" dirty="0" err="1">
                <a:solidFill>
                  <a:srgbClr val="00D9FF"/>
                </a:solidFill>
              </a:rPr>
              <a:t>np.where</a:t>
            </a:r>
            <a:r>
              <a:rPr lang="en-US" sz="1000" b="1" dirty="0">
                <a:solidFill>
                  <a:srgbClr val="00D9FF"/>
                </a:solidFill>
              </a:rPr>
              <a:t>(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iso_predictions</a:t>
            </a:r>
            <a:r>
              <a:rPr lang="en-US" sz="1000" b="1" dirty="0">
                <a:solidFill>
                  <a:srgbClr val="00D9FF"/>
                </a:solidFill>
              </a:rPr>
              <a:t> == -1) |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(</a:t>
            </a:r>
            <a:r>
              <a:rPr lang="en-US" sz="1000" b="1" dirty="0" err="1">
                <a:solidFill>
                  <a:srgbClr val="00D9FF"/>
                </a:solidFill>
              </a:rPr>
              <a:t>rf_predictions</a:t>
            </a:r>
            <a:r>
              <a:rPr lang="en-US" sz="1000" b="1" dirty="0">
                <a:solidFill>
                  <a:srgbClr val="00D9FF"/>
                </a:solidFill>
              </a:rPr>
              <a:t> == 1), 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    1, 0</a:t>
            </a:r>
          </a:p>
          <a:p>
            <a:pPr marL="0" indent="0">
              <a:buNone/>
            </a:pPr>
            <a:r>
              <a:rPr lang="en-US" sz="1000" b="1" dirty="0">
                <a:solidFill>
                  <a:srgbClr val="00D9FF"/>
                </a:solidFill>
              </a:rPr>
              <a:t>)</a:t>
            </a:r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DEB3535D-F703-3E0D-A21D-A387E0E7FA3D}"/>
              </a:ext>
            </a:extLst>
          </p:cNvPr>
          <p:cNvSpPr/>
          <p:nvPr/>
        </p:nvSpPr>
        <p:spPr>
          <a:xfrm>
            <a:off x="50292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39060A2D-33A1-1C2F-A0D1-64F1B9684FE0}"/>
              </a:ext>
            </a:extLst>
          </p:cNvPr>
          <p:cNvSpPr/>
          <p:nvPr/>
        </p:nvSpPr>
        <p:spPr>
          <a:xfrm>
            <a:off x="6276176" y="2697480"/>
            <a:ext cx="171228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1397AF25-7CD3-6988-6D99-90390A1D3548}"/>
              </a:ext>
            </a:extLst>
          </p:cNvPr>
          <p:cNvSpPr/>
          <p:nvPr/>
        </p:nvSpPr>
        <p:spPr>
          <a:xfrm>
            <a:off x="227862" y="4685157"/>
            <a:ext cx="2309598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43ED6A3A-5795-759D-1350-F51735179B96}"/>
              </a:ext>
            </a:extLst>
          </p:cNvPr>
          <p:cNvSpPr/>
          <p:nvPr/>
        </p:nvSpPr>
        <p:spPr>
          <a:xfrm>
            <a:off x="6874347" y="1149858"/>
            <a:ext cx="224323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b="1" dirty="0">
              <a:solidFill>
                <a:srgbClr val="00D9FF"/>
              </a:solidFill>
            </a:endParaRPr>
          </a:p>
        </p:txBody>
      </p:sp>
      <p:sp>
        <p:nvSpPr>
          <p:cNvPr id="38" name="Text 5">
            <a:extLst>
              <a:ext uri="{FF2B5EF4-FFF2-40B4-BE49-F238E27FC236}">
                <a16:creationId xmlns:a16="http://schemas.microsoft.com/office/drawing/2014/main" id="{4D6BBFCE-8542-CAF8-5A85-F92F1B889C57}"/>
              </a:ext>
            </a:extLst>
          </p:cNvPr>
          <p:cNvSpPr/>
          <p:nvPr/>
        </p:nvSpPr>
        <p:spPr>
          <a:xfrm>
            <a:off x="6942190" y="2667313"/>
            <a:ext cx="2157880" cy="1654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>
              <a:solidFill>
                <a:srgbClr val="CADCFC"/>
              </a:solidFill>
            </a:endParaRPr>
          </a:p>
        </p:txBody>
      </p:sp>
      <p:sp>
        <p:nvSpPr>
          <p:cNvPr id="39" name="Shape 1">
            <a:extLst>
              <a:ext uri="{FF2B5EF4-FFF2-40B4-BE49-F238E27FC236}">
                <a16:creationId xmlns:a16="http://schemas.microsoft.com/office/drawing/2014/main" id="{BC2321C6-DE28-8A5A-F85E-938130622B9C}"/>
              </a:ext>
            </a:extLst>
          </p:cNvPr>
          <p:cNvSpPr/>
          <p:nvPr/>
        </p:nvSpPr>
        <p:spPr>
          <a:xfrm>
            <a:off x="5811234" y="1026413"/>
            <a:ext cx="3006460" cy="3944493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0" name="Text 2">
            <a:extLst>
              <a:ext uri="{FF2B5EF4-FFF2-40B4-BE49-F238E27FC236}">
                <a16:creationId xmlns:a16="http://schemas.microsoft.com/office/drawing/2014/main" id="{43622316-2051-5BA9-15A0-A5E4CC254FBC}"/>
              </a:ext>
            </a:extLst>
          </p:cNvPr>
          <p:cNvSpPr/>
          <p:nvPr/>
        </p:nvSpPr>
        <p:spPr>
          <a:xfrm>
            <a:off x="5994113" y="113957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00D9FF"/>
                </a:solidFill>
              </a:rPr>
              <a:t>Azure Cloud Integration:</a:t>
            </a:r>
          </a:p>
        </p:txBody>
      </p:sp>
      <p:sp>
        <p:nvSpPr>
          <p:cNvPr id="41" name="Text 5">
            <a:extLst>
              <a:ext uri="{FF2B5EF4-FFF2-40B4-BE49-F238E27FC236}">
                <a16:creationId xmlns:a16="http://schemas.microsoft.com/office/drawing/2014/main" id="{8F64629C-9829-0564-7A40-CF1413D502D1}"/>
              </a:ext>
            </a:extLst>
          </p:cNvPr>
          <p:cNvSpPr/>
          <p:nvPr/>
        </p:nvSpPr>
        <p:spPr>
          <a:xfrm>
            <a:off x="5994113" y="2998659"/>
            <a:ext cx="2739024" cy="3147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from </a:t>
            </a:r>
            <a:r>
              <a:rPr lang="en-US" sz="1000" dirty="0" err="1">
                <a:solidFill>
                  <a:srgbClr val="CADCFC"/>
                </a:solidFill>
              </a:rPr>
              <a:t>azure.storage.blob</a:t>
            </a:r>
            <a:r>
              <a:rPr lang="en-US" sz="1000" dirty="0">
                <a:solidFill>
                  <a:srgbClr val="CADCFC"/>
                </a:solidFill>
              </a:rPr>
              <a:t> import BlobServiceClient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import </a:t>
            </a:r>
            <a:r>
              <a:rPr lang="en-US" sz="1000" dirty="0" err="1">
                <a:solidFill>
                  <a:srgbClr val="CADCFC"/>
                </a:solidFill>
              </a:rPr>
              <a:t>azure.functions</a:t>
            </a:r>
            <a:r>
              <a:rPr lang="en-US" sz="1000" dirty="0">
                <a:solidFill>
                  <a:srgbClr val="CADCFC"/>
                </a:solidFill>
              </a:rPr>
              <a:t> as </a:t>
            </a:r>
            <a:r>
              <a:rPr lang="en-US" sz="1000" dirty="0" err="1">
                <a:solidFill>
                  <a:srgbClr val="CADCFC"/>
                </a:solidFill>
              </a:rPr>
              <a:t>func</a:t>
            </a:r>
            <a:endParaRPr lang="en-US" sz="1000" dirty="0">
              <a:solidFill>
                <a:srgbClr val="CADCFC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Upload to Azure Blob Storage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blob_service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BlobServiceClient.from_connection_string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conn_str</a:t>
            </a:r>
            <a:r>
              <a:rPr lang="en-US" sz="1000" dirty="0">
                <a:solidFill>
                  <a:srgbClr val="CADCFC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container = </a:t>
            </a:r>
            <a:r>
              <a:rPr lang="en-US" sz="1000" dirty="0" err="1">
                <a:solidFill>
                  <a:srgbClr val="CADCFC"/>
                </a:solidFill>
              </a:rPr>
              <a:t>blob_service.get_container_client</a:t>
            </a:r>
            <a:r>
              <a:rPr lang="en-US" sz="1000" dirty="0">
                <a:solidFill>
                  <a:srgbClr val="CADCFC"/>
                </a:solidFill>
              </a:rPr>
              <a:t>("surveillance-videos")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container.get_blob_client</a:t>
            </a:r>
            <a:r>
              <a:rPr lang="en-US" sz="1000" dirty="0">
                <a:solidFill>
                  <a:srgbClr val="CADCFC"/>
                </a:solidFill>
              </a:rPr>
              <a:t>("detected_threat.jpg")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CADCFC"/>
                </a:solidFill>
              </a:rPr>
              <a:t>blob_client.upload_blob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image_data</a:t>
            </a:r>
            <a:r>
              <a:rPr lang="en-US" sz="1000" dirty="0">
                <a:solidFill>
                  <a:srgbClr val="CADCFC"/>
                </a:solidFill>
              </a:rPr>
              <a:t>, overwrite=True)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# Azure Function for alert processing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def main(req: </a:t>
            </a:r>
            <a:r>
              <a:rPr lang="en-US" sz="1000" dirty="0" err="1">
                <a:solidFill>
                  <a:srgbClr val="CADCFC"/>
                </a:solidFill>
              </a:rPr>
              <a:t>func.HttpRequest</a:t>
            </a:r>
            <a:r>
              <a:rPr lang="en-US" sz="1000" dirty="0">
                <a:solidFill>
                  <a:srgbClr val="CADCFC"/>
                </a:solidFill>
              </a:rPr>
              <a:t>) -&gt;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 = </a:t>
            </a:r>
            <a:r>
              <a:rPr lang="en-US" sz="1000" dirty="0" err="1">
                <a:solidFill>
                  <a:srgbClr val="CADCFC"/>
                </a:solidFill>
              </a:rPr>
              <a:t>req.get_json</a:t>
            </a:r>
            <a:r>
              <a:rPr lang="en-US" sz="1000" dirty="0">
                <a:solidFill>
                  <a:srgbClr val="CADCFC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if 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['confidence'] &gt; 0.8: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    </a:t>
            </a:r>
            <a:r>
              <a:rPr lang="en-US" sz="1000" dirty="0" err="1">
                <a:solidFill>
                  <a:srgbClr val="CADCFC"/>
                </a:solidFill>
              </a:rPr>
              <a:t>send_alert</a:t>
            </a:r>
            <a:r>
              <a:rPr lang="en-US" sz="1000" dirty="0">
                <a:solidFill>
                  <a:srgbClr val="CADCFC"/>
                </a:solidFill>
              </a:rPr>
              <a:t>(</a:t>
            </a:r>
            <a:r>
              <a:rPr lang="en-US" sz="1000" dirty="0" err="1">
                <a:solidFill>
                  <a:srgbClr val="CADCFC"/>
                </a:solidFill>
              </a:rPr>
              <a:t>detection_data</a:t>
            </a:r>
            <a:r>
              <a:rPr lang="en-US" sz="1000" dirty="0">
                <a:solidFill>
                  <a:srgbClr val="CADCFC"/>
                </a:solidFill>
              </a:rPr>
              <a:t>)  # Trigger email/SMS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    return </a:t>
            </a:r>
            <a:r>
              <a:rPr lang="en-US" sz="1000" dirty="0" err="1">
                <a:solidFill>
                  <a:srgbClr val="CADCFC"/>
                </a:solidFill>
              </a:rPr>
              <a:t>func.HttpResponse</a:t>
            </a:r>
            <a:r>
              <a:rPr lang="en-US" sz="1000" dirty="0">
                <a:solidFill>
                  <a:srgbClr val="CADCFC"/>
                </a:solidFill>
              </a:rPr>
              <a:t>("Alert processed", </a:t>
            </a:r>
            <a:r>
              <a:rPr lang="en-US" sz="1000" dirty="0" err="1">
                <a:solidFill>
                  <a:srgbClr val="CADCFC"/>
                </a:solidFill>
              </a:rPr>
              <a:t>status_code</a:t>
            </a:r>
            <a:r>
              <a:rPr lang="en-US" sz="1000" dirty="0">
                <a:solidFill>
                  <a:srgbClr val="CADCFC"/>
                </a:solidFill>
              </a:rPr>
              <a:t>=200)</a:t>
            </a:r>
          </a:p>
        </p:txBody>
      </p:sp>
    </p:spTree>
    <p:extLst>
      <p:ext uri="{BB962C8B-B14F-4D97-AF65-F5344CB8AC3E}">
        <p14:creationId xmlns:p14="http://schemas.microsoft.com/office/powerpoint/2010/main" val="17570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D3E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Datasets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UCF-Crime: crcv.ucf.edu/projects/real-world/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1848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61848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xView: xviewdataset.org/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6537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86537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DOTA: captain-whu.github.io/DOTA/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9FF"/>
                </a:solidFill>
              </a:rPr>
              <a:t>Technologies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56032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docs.ultralytics.com/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807208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0720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Microsoft Azure: azure.microsoft.com/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054096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9FF"/>
                </a:solidFill>
              </a:rPr>
              <a:t>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05409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TensorFlow: tensorflow.org/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6B35"/>
                </a:solidFill>
              </a:rPr>
              <a:t>Research Papers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37160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Real-world Anomaly Detection 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Surveillance Videos (CVPR)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46320" y="192024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YOLOv8: Advanced Object Detection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46320" y="2468880"/>
            <a:ext cx="137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4688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Enhancing Border Security Through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ADCFC"/>
                </a:solidFill>
              </a:rPr>
              <a:t>Computer Vision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731520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CADCFC"/>
                </a:solidFill>
              </a:rPr>
              <a:t>All references and resources available in project documentation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21A7B8-E320-89B3-AD3B-B6A8FEEF7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925D5F3A-D75F-7B0E-F269-8440D34AC60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EE1F4091-2E84-B96D-F796-DDD70FB531C7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rgbClr val="FF6B35"/>
                </a:solidFill>
              </a:rPr>
              <a:t>Results &amp; Outcomes (Week 1-7)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3917ECF2-B761-409F-7E8B-C065CDCED37C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DECFE6A3-9999-EC41-F8CC-BDC606761E81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AC95D2A-6031-3FAA-8258-B06C19657A72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Training Achievements: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F5EE2B0-708F-0AA8-EFBC-C4CCE2E32C8E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6F2E7ECE-FCE6-3E9B-DC2D-90FE9864D0AC}"/>
              </a:ext>
            </a:extLst>
          </p:cNvPr>
          <p:cNvSpPr/>
          <p:nvPr/>
        </p:nvSpPr>
        <p:spPr>
          <a:xfrm>
            <a:off x="685800" y="2040636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Completed 7 weeks of Microsoft Elevate training modules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Mastered Data Analytics, Machine Learning, Deep Learning concepts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Built CNN from scratch - achieved 78% accuracy on CIFAR-10 dataset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Implemented transfer learning with VGG16 pre-trained model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Successfully tested YOLOv8 on surveillance footage (30+ FPS performance)</a:t>
            </a: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100" dirty="0">
                <a:solidFill>
                  <a:srgbClr val="CADCFC"/>
                </a:solidFill>
              </a:rPr>
              <a:t>Prepared 850 annotated frames for custom model training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0A72563-A449-687C-6E58-FADF1A247CB1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21957A2-7D91-5C5B-F8CE-7E31BFC60CE2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E269A60-9509-6C18-CC8C-D845174455F0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7FFC225-46CA-20D8-3072-C093B8FD243F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7AC85A-B5EE-C983-7187-A1451B7AD287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72F4F6C-0DB6-1863-64ED-2FFC8956FA43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797D83E7-14F3-8D0F-11EE-A6E5A7002F66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390F613B-0BCF-D991-1462-E71CA010029A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E5F2152E-5D04-6720-9275-9E4092C09F0B}"/>
              </a:ext>
            </a:extLst>
          </p:cNvPr>
          <p:cNvSpPr/>
          <p:nvPr/>
        </p:nvSpPr>
        <p:spPr>
          <a:xfrm>
            <a:off x="457200" y="3235452"/>
            <a:ext cx="8229600" cy="116738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E1C2ACA6-22AA-1E07-A1DF-E088BD8CBA28}"/>
              </a:ext>
            </a:extLst>
          </p:cNvPr>
          <p:cNvSpPr/>
          <p:nvPr/>
        </p:nvSpPr>
        <p:spPr>
          <a:xfrm>
            <a:off x="457200" y="3235452"/>
            <a:ext cx="91440" cy="116738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Text 3">
            <a:extLst>
              <a:ext uri="{FF2B5EF4-FFF2-40B4-BE49-F238E27FC236}">
                <a16:creationId xmlns:a16="http://schemas.microsoft.com/office/drawing/2014/main" id="{CFD9D820-F39A-16A6-4C58-62519D17E4D6}"/>
              </a:ext>
            </a:extLst>
          </p:cNvPr>
          <p:cNvSpPr/>
          <p:nvPr/>
        </p:nvSpPr>
        <p:spPr>
          <a:xfrm>
            <a:off x="685800" y="3326892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Pre-trained YOLOv8 Performance:</a:t>
            </a:r>
          </a:p>
        </p:txBody>
      </p:sp>
      <p:sp>
        <p:nvSpPr>
          <p:cNvPr id="34" name="Text 5">
            <a:extLst>
              <a:ext uri="{FF2B5EF4-FFF2-40B4-BE49-F238E27FC236}">
                <a16:creationId xmlns:a16="http://schemas.microsoft.com/office/drawing/2014/main" id="{234B7DD2-E956-2A0E-C9F8-54A9D359E795}"/>
              </a:ext>
            </a:extLst>
          </p:cNvPr>
          <p:cNvSpPr/>
          <p:nvPr/>
        </p:nvSpPr>
        <p:spPr>
          <a:xfrm>
            <a:off x="685800" y="38907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YOLOv8n (nano): ~30 FPS, 640x640 input, 3.2M parameters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Detection Accuracy: Person (92%), Vehicle (88%), Backpack (85%)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Average Confidence Score: 0.76 for valid detections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100" dirty="0">
                <a:solidFill>
                  <a:srgbClr val="CADCFC"/>
                </a:solidFill>
              </a:rPr>
              <a:t>False Positive Rate: ~15% on test surveillance footage</a:t>
            </a:r>
          </a:p>
        </p:txBody>
      </p:sp>
    </p:spTree>
    <p:extLst>
      <p:ext uri="{BB962C8B-B14F-4D97-AF65-F5344CB8AC3E}">
        <p14:creationId xmlns:p14="http://schemas.microsoft.com/office/powerpoint/2010/main" val="1160278623"/>
      </p:ext>
    </p:extLst>
  </p:cSld>
  <p:clrMapOvr>
    <a:masterClrMapping/>
  </p:clrMapOvr>
  <p:transition spd="slow"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D3E6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EA1EEC-B71C-7164-F3A8-35A0E4447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72C6DB66-DFED-E002-481D-F307DFB172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49580" y="402336"/>
            <a:ext cx="420624" cy="42062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83ED2969-163A-B746-F060-CBD3C586688C}"/>
              </a:ext>
            </a:extLst>
          </p:cNvPr>
          <p:cNvSpPr/>
          <p:nvPr/>
        </p:nvSpPr>
        <p:spPr>
          <a:xfrm>
            <a:off x="914400" y="365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solidFill>
                  <a:schemeClr val="accent6"/>
                </a:solidFill>
              </a:rPr>
              <a:t>Expected Final Outcomes (Week 12):</a:t>
            </a:r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2615CD4C-1894-296C-1CFB-B8A0248DAEE3}"/>
              </a:ext>
            </a:extLst>
          </p:cNvPr>
          <p:cNvSpPr/>
          <p:nvPr/>
        </p:nvSpPr>
        <p:spPr>
          <a:xfrm>
            <a:off x="457200" y="1225296"/>
            <a:ext cx="8229600" cy="1502664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060D0CC-0398-35A7-658E-56F959384E1E}"/>
              </a:ext>
            </a:extLst>
          </p:cNvPr>
          <p:cNvSpPr/>
          <p:nvPr/>
        </p:nvSpPr>
        <p:spPr>
          <a:xfrm>
            <a:off x="457200" y="1225296"/>
            <a:ext cx="91440" cy="1502664"/>
          </a:xfrm>
          <a:prstGeom prst="rect">
            <a:avLst/>
          </a:prstGeom>
          <a:solidFill>
            <a:srgbClr val="00D9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349EC98-6B48-CC0E-3CEF-FFFEE5FC4C43}"/>
              </a:ext>
            </a:extLst>
          </p:cNvPr>
          <p:cNvSpPr/>
          <p:nvPr/>
        </p:nvSpPr>
        <p:spPr>
          <a:xfrm>
            <a:off x="685800" y="1316736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b="1" dirty="0">
              <a:solidFill>
                <a:srgbClr val="FFFFFF"/>
              </a:solidFill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EFB25BB-D52C-2F95-3A8A-E07CF25DAE1C}"/>
              </a:ext>
            </a:extLst>
          </p:cNvPr>
          <p:cNvSpPr/>
          <p:nvPr/>
        </p:nvSpPr>
        <p:spPr>
          <a:xfrm>
            <a:off x="822960" y="1508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AE4A8A2-D043-7BAF-28CE-88A644C41409}"/>
              </a:ext>
            </a:extLst>
          </p:cNvPr>
          <p:cNvSpPr/>
          <p:nvPr/>
        </p:nvSpPr>
        <p:spPr>
          <a:xfrm>
            <a:off x="685800" y="186385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Fully trained YOLOv8 model on custom surveillance dataset (&gt;90% accuracy)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Deployed anomaly detection system with &lt;20% false positive rate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Functional Azure cloud infrastructure with real-time processing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Power BI dashboard with live detection metrics and alert visualization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1200" dirty="0">
                <a:solidFill>
                  <a:srgbClr val="CADCFC"/>
                </a:solidFill>
              </a:rPr>
              <a:t>Complete project documentation and GitHub repository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03BD7432-F84E-65F0-FE09-ED5DFECFAB3C}"/>
              </a:ext>
            </a:extLst>
          </p:cNvPr>
          <p:cNvSpPr/>
          <p:nvPr/>
        </p:nvSpPr>
        <p:spPr>
          <a:xfrm>
            <a:off x="822960" y="1719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63BE996-B77F-6994-03A5-637BBC09B7ED}"/>
              </a:ext>
            </a:extLst>
          </p:cNvPr>
          <p:cNvSpPr/>
          <p:nvPr/>
        </p:nvSpPr>
        <p:spPr>
          <a:xfrm>
            <a:off x="1005840" y="1719072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146C9F0-9100-0255-9556-3921953E00E2}"/>
              </a:ext>
            </a:extLst>
          </p:cNvPr>
          <p:cNvSpPr/>
          <p:nvPr/>
        </p:nvSpPr>
        <p:spPr>
          <a:xfrm>
            <a:off x="822960" y="1929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18B4571-B5C8-6B45-55E7-E800C5F4233A}"/>
              </a:ext>
            </a:extLst>
          </p:cNvPr>
          <p:cNvSpPr/>
          <p:nvPr/>
        </p:nvSpPr>
        <p:spPr>
          <a:xfrm>
            <a:off x="1005840" y="1929384"/>
            <a:ext cx="7498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26ACA7F-DF5C-9FA1-0F42-4CD52B23D3B2}"/>
              </a:ext>
            </a:extLst>
          </p:cNvPr>
          <p:cNvSpPr/>
          <p:nvPr/>
        </p:nvSpPr>
        <p:spPr>
          <a:xfrm>
            <a:off x="822960" y="2651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555359B0-32AD-A851-310B-0B9DD388F664}"/>
              </a:ext>
            </a:extLst>
          </p:cNvPr>
          <p:cNvSpPr/>
          <p:nvPr/>
        </p:nvSpPr>
        <p:spPr>
          <a:xfrm>
            <a:off x="822960" y="2862072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6A916E38-1E45-772F-5820-16C929BE6DC3}"/>
              </a:ext>
            </a:extLst>
          </p:cNvPr>
          <p:cNvSpPr/>
          <p:nvPr/>
        </p:nvSpPr>
        <p:spPr>
          <a:xfrm>
            <a:off x="822960" y="3794760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98793A7-A5B7-C646-AD71-916A983FE5EE}"/>
              </a:ext>
            </a:extLst>
          </p:cNvPr>
          <p:cNvSpPr/>
          <p:nvPr/>
        </p:nvSpPr>
        <p:spPr>
          <a:xfrm>
            <a:off x="822960" y="4215384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723231"/>
      </p:ext>
    </p:extLst>
  </p:cSld>
  <p:clrMapOvr>
    <a:masterClrMapping/>
  </p:clrMapOvr>
  <p:transition spd="slow">
    <p:randomBar dir="vert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715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691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336145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0D9FF"/>
                </a:solidFill>
              </a:rPr>
              <a:t>Questions?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182761" y="2780144"/>
            <a:ext cx="4492359" cy="1390036"/>
          </a:xfrm>
          <a:prstGeom prst="rect">
            <a:avLst/>
          </a:prstGeom>
          <a:solidFill>
            <a:srgbClr val="3D4E76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2468880" y="2871069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D9FF"/>
                </a:solidFill>
              </a:rPr>
              <a:t>Contact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468880" y="315423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Patel Binit Umesh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468880" y="3383722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</a:rPr>
              <a:t>Email: binitp2@gmail.com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468880" y="3636805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GitHub: https://github.com/binitp2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468880" y="3886421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CADCFC"/>
                </a:solidFill>
              </a:rPr>
              <a:t>LinkedIn: https://in.linkedin.com/in/dte-gecbh-com-binitpatel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Government Engineering College, Bharuch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48006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8B8D8"/>
                </a:solidFill>
              </a:rPr>
              <a:t>Microsoft Elevate Internship 2026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order_Defence_Presentation" id="{9E4F15CF-6B86-494D-9959-3096D1BA2AB0}" vid="{5DD214B2-4F19-4E61-B85D-15F74B7965D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170</TotalTime>
  <Words>2575</Words>
  <Application>Microsoft Office PowerPoint</Application>
  <PresentationFormat>On-screen Show (16:9)</PresentationFormat>
  <Paragraphs>496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 Defence and Surveillance - AI-Powered System</dc:title>
  <dc:subject>PptxGenJS Presentation</dc:subject>
  <dc:creator>Jay Gupta</dc:creator>
  <cp:lastModifiedBy>Binit Patel</cp:lastModifiedBy>
  <cp:revision>16</cp:revision>
  <dcterms:created xsi:type="dcterms:W3CDTF">2026-02-06T17:39:37Z</dcterms:created>
  <dcterms:modified xsi:type="dcterms:W3CDTF">2026-04-10T05:15:39Z</dcterms:modified>
</cp:coreProperties>
</file>