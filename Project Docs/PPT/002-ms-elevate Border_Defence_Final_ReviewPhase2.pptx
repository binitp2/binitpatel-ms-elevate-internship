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9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binitp2/Border-Surveillance-Projec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3429000"/>
            <a:ext cx="390449" cy="3429000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505956"/>
            <a:ext cx="12191695" cy="352044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" y="360274"/>
            <a:ext cx="1596542" cy="4562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6189" y="1188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CAPSTONE PROJECT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6189" y="1572768"/>
            <a:ext cx="4480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BORDER DEFENCE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SURVEILLANCE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596189" y="27926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35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System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96189" y="3547872"/>
            <a:ext cx="44805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NAME:  PATEL BINIT UMESHKUMAR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COLLEGE NAME:  GOVERNMENT ENGINEERING COLLEGE, 	        BHARUCH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COMPUTER ENGINEERING </a:t>
            </a:r>
            <a:endParaRPr lang="en-US" sz="12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ID:  </a:t>
            </a:r>
            <a:r>
              <a:rPr lang="en-US" sz="125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binitp2@gmail.com</a:t>
            </a:r>
            <a:endParaRPr lang="en-US" sz="1250" dirty="0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5CD84877-6182-72A8-58E9-4A8F832FAFD1}"/>
              </a:ext>
            </a:extLst>
          </p:cNvPr>
          <p:cNvSpPr/>
          <p:nvPr/>
        </p:nvSpPr>
        <p:spPr>
          <a:xfrm>
            <a:off x="5391150" y="266700"/>
            <a:ext cx="6115050" cy="6210300"/>
          </a:xfrm>
          <a:custGeom>
            <a:avLst/>
            <a:gdLst/>
            <a:ahLst/>
            <a:cxnLst/>
            <a:rect l="l" t="t" r="r" b="b"/>
            <a:pathLst>
              <a:path w="6115050" h="6210300">
                <a:moveTo>
                  <a:pt x="6115050" y="0"/>
                </a:moveTo>
                <a:lnTo>
                  <a:pt x="0" y="0"/>
                </a:lnTo>
                <a:lnTo>
                  <a:pt x="0" y="6210300"/>
                </a:lnTo>
                <a:lnTo>
                  <a:pt x="6115050" y="6210300"/>
                </a:lnTo>
                <a:lnTo>
                  <a:pt x="6115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8034C-F573-2F3E-A3B8-8CC453226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249" y="1635048"/>
            <a:ext cx="2485715" cy="30467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12063" y="1703527"/>
            <a:ext cx="7213683" cy="3593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System/Solution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Development Approach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&amp; Deployment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150" dirty="0"/>
          </a:p>
          <a:p>
            <a:pPr marL="342900" indent="-3429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2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99593" y="1417320"/>
            <a:ext cx="113385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India's vast border regions face critical surveillance challenges that manual methods cannot adequately address:</a:t>
            </a:r>
            <a:endParaRPr lang="en-US" sz="2150" i="1" u="sng" dirty="0"/>
          </a:p>
          <a:p>
            <a:pPr marL="0" indent="0">
              <a:spcAft>
                <a:spcPts val="200"/>
              </a:spcAft>
              <a:buNone/>
            </a:pP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Massive scale: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Thousands of km of borders are impossible to monitor continuously with limited personnel.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Delayed detection: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Human operators suffer from fatigue and reaction lag, allowing threats to go undetected.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High false alarm rates: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Conventional motion sensors frequently trigger on animals and weather, wasting response resources.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Poor data integration: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Cameras, drones, and radar operate in isolation — no unified real-time analysis pipeline exists.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Manpower limitations: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Border agencies cannot staff every critical checkpoint simultaneously.</a:t>
            </a:r>
            <a:endParaRPr lang="en-US" sz="2150" dirty="0"/>
          </a:p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q"/>
            </a:pPr>
            <a:r>
              <a:rPr lang="en-US" sz="21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No predictive capability: </a:t>
            </a:r>
            <a:r>
              <a:rPr lang="en-US" sz="21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Threat patterns are identified only after incidents, not before.</a:t>
            </a:r>
            <a:endParaRPr lang="en-US" sz="2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98094" y="1345082"/>
            <a:ext cx="1143000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surveillance footage (UCF-Crime, xView, DOTA); extract frames at 1 FPS, resize to 640×640, upload to Azure Blob Storage.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(YOLOv8):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nano detects persons, vehicles &amp; suspicious objects at 30+ FPS; generates bounding boxes with confidence scores.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(Ensemble ML):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detects unusual patterns; Random Forest classifies threat level. Ensemble voting reduces false positives to &lt;20%.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email/SMS alerts for threats with confidence &gt;0.8. All detections logged to Azure Cosmos DB.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deployed on Microsoft Azure (Functions + Blob Storage + Cosmos DB) with CI/CD via GitHub Actions.</a:t>
            </a:r>
            <a:endParaRPr lang="en-US" sz="20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Power BI dashboard visualises detection counts, anomaly heatmaps, and system performance metrics.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APPROACH: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96850" y="141732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system is developed using a modular, cloud-first approach combining computer vision, machine learning, and Azure cloud infrastructure.</a:t>
            </a:r>
            <a:endParaRPr lang="en-US" sz="2150" i="1" u="sn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E0DB2B-D734-CBDA-E8EC-D18DC1B39507}"/>
              </a:ext>
            </a:extLst>
          </p:cNvPr>
          <p:cNvSpPr/>
          <p:nvPr/>
        </p:nvSpPr>
        <p:spPr>
          <a:xfrm>
            <a:off x="397764" y="2593695"/>
            <a:ext cx="5394960" cy="2801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7A42BC5-0B40-8A4B-59B6-41138F0D89E8}"/>
              </a:ext>
            </a:extLst>
          </p:cNvPr>
          <p:cNvSpPr/>
          <p:nvPr/>
        </p:nvSpPr>
        <p:spPr>
          <a:xfrm>
            <a:off x="527926" y="2593695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Python 3.9+,  OpenCV,  TensorFlow / Keras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Scikit-learn  (Isolation Forest, Random Forest)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Ultralytics  (YOLOv8)  for object detection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Pandas,  NumPy  for data processing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Microsoft Azure subscription</a:t>
            </a:r>
            <a:endParaRPr lang="en-US" sz="1900" dirty="0"/>
          </a:p>
        </p:txBody>
      </p:sp>
      <p:sp>
        <p:nvSpPr>
          <p:cNvPr id="15" name="Text 4"/>
          <p:cNvSpPr/>
          <p:nvPr/>
        </p:nvSpPr>
        <p:spPr>
          <a:xfrm>
            <a:off x="527926" y="284683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System Requirements:</a:t>
            </a:r>
            <a:endParaRPr lang="en-US" sz="1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924825-6862-6F7D-5704-7C935B4DA98E}"/>
              </a:ext>
            </a:extLst>
          </p:cNvPr>
          <p:cNvSpPr/>
          <p:nvPr/>
        </p:nvSpPr>
        <p:spPr>
          <a:xfrm>
            <a:off x="6269114" y="2593695"/>
            <a:ext cx="5394960" cy="30353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2A1ED30-D011-2A4E-44AC-43E4B2E1C206}"/>
              </a:ext>
            </a:extLst>
          </p:cNvPr>
          <p:cNvSpPr/>
          <p:nvPr/>
        </p:nvSpPr>
        <p:spPr>
          <a:xfrm>
            <a:off x="6399276" y="2667323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Libraries &amp; Cloud Stack:</a:t>
            </a:r>
            <a:endParaRPr lang="en-US" sz="19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84E22FB-2517-C059-D651-32FEFF505B9F}"/>
              </a:ext>
            </a:extLst>
          </p:cNvPr>
          <p:cNvSpPr/>
          <p:nvPr/>
        </p:nvSpPr>
        <p:spPr>
          <a:xfrm>
            <a:off x="6399276" y="2645555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ultralytics — YOLOv8 object detection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opencv-python — video/image processing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azure-storage-blob — frame/video storage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azure-functions — serverless processing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Power BI + DAX — real-time dashboard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GitHub Actions — CI/CD pipeline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&amp; DEPLOYMENT: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98094" y="1484071"/>
            <a:ext cx="115214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Algorithm Selection: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(real-time object detection at 30+ FPS) combined with Isolation Forest + Random Forest ensemble for anomaly detection. Selected for speed, accuracy (&gt;90%), and open-source availability.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Data Input: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Historical UCF-Crime videos (1,900 clips, 13 anomaly types) + xView satellite imagery (1M+ objects). Features: optical flow, bounding box coordinates, frame timestamps, weather metadata.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Training Process: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fine-tuned on 850 custom-annotated frames (680 train / 170 validation) via Roboflow. Ensemble models trained with 5-fold cross-validation; contamination=0.1, n_estimators=100.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Prediction Process: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Each surveillance frame triggers: YOLOv8 detection → confidence filtering → anomaly check → alert generation (email/SMS). Deployed as Azure Functions with Power BI streaming live metrics from Cosmos DB.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RESULT: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8094" y="1417320"/>
          <a:ext cx="11430000" cy="28803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Achieved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5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Detection Accuracy (Person)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92%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&gt;90%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Detection Accuracy (Vehicle)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88%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&gt;85%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Processing Speed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30+ FPS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&gt;20 FPS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Avg Confidence Score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0.76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&gt;0.70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False Positive Rate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~15%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&lt;20%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Alert Response Time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&lt;2 sec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&lt;2 sec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Franklin Gothic Medium" pitchFamily="34" charset="0"/>
                          <a:ea typeface="Franklin Gothic Medium" pitchFamily="34" charset="-122"/>
                          <a:cs typeface="Franklin Gothic Medium" pitchFamily="34" charset="-120"/>
                        </a:rPr>
                        <a:t>✔ Met</a:t>
                      </a:r>
                      <a:endParaRPr lang="en-US" sz="1900" dirty="0">
                        <a:latin typeface="Franklin Gothic Medium" charset="0"/>
                        <a:ea typeface="Franklin Gothic Medium" charset="0"/>
                        <a:cs typeface="Franklin Gothic Medium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98094" y="4507189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Training &amp; Development Results: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8094" y="4663440"/>
            <a:ext cx="11521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Built CNN from scratch — 78% accuracy on CIFAR-10 as proof-of-concept.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Transfer learning with VGG16 improved convergence speed by 40%.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850 annotated surveillance frames prepared for YOLOv8 custom fine-tuning.</a:t>
            </a:r>
            <a:endParaRPr lang="en-US" sz="1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Power BI dashboard prototyped — real-time alert feed and anomaly heatmap verified.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This project demonstrates a successful end-to-end AI/ML solution for national border security, integrating 12 weeks of Microsoft Elevate learning into a production-grade system.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Key Outcomes: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achieves &gt;90% person and &gt;85% vehicle detection accuracy at 30+ FPS.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Ensemble ML (Isolation Forest + Random Forest) reduces false positives to ~15%, well below the 30–40% manual rate.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Full Azure cloud infrastructure deployed: Functions, Blob Storage, Cosmos DB.</a:t>
            </a:r>
            <a:endParaRPr lang="en-US" sz="1850" dirty="0"/>
          </a:p>
          <a:p>
            <a:pPr marL="342900" indent="-342900">
              <a:buSzPct val="100000"/>
              <a:buChar char="•"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Real-time Power BI dashboard operational with live alerts and anomaly heatmaps.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Challenges Overcome: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Manual bounding box annotation for 850 frames, balancing speed vs. accuracy in model selection, and managing Azure cloud costs within project budget.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Impact: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Enhances border security through automation, reduces manual workload, and provides a scalable solution deployable across multiple border zones.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50" i="1" u="sng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The current system establishes a strong foundation. The following enhancements are planned to expand real-world applicability:</a:t>
            </a:r>
            <a:endParaRPr lang="en-US" sz="2150" i="1" u="sng" dirty="0"/>
          </a:p>
        </p:txBody>
      </p:sp>
      <p:sp>
        <p:nvSpPr>
          <p:cNvPr id="7" name="Text 4"/>
          <p:cNvSpPr/>
          <p:nvPr/>
        </p:nvSpPr>
        <p:spPr>
          <a:xfrm>
            <a:off x="341986" y="2173724"/>
            <a:ext cx="11430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Night Vision &amp; Thermal Imaging: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Process infrared and thermal feeds for 24/7 all-weather surveillance coverage.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Edge Computing Deployment: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Deploy YOLOv8-nano on NVIDIA Jetson devices at border posts to reduce latency and bandwidth costs.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Drone &amp; Satellite Feed Processing: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Incorporate real-time aerial imagery analysis for remote border coverage.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Multi-Region Scalability: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Expand Azure infrastructure to support hundreds of concurrent camera feeds with auto-scaling.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Advanced ML Techniques: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Integrate Vision Transformer (ViT) and federated learning for continuous improvement without centralising sensitive data.</a:t>
            </a:r>
            <a:endParaRPr lang="en-US" sz="2100" dirty="0"/>
          </a:p>
          <a:p>
            <a:pPr marL="342900" indent="-342900">
              <a:spcAft>
                <a:spcPts val="700"/>
              </a:spcAft>
              <a:buFont typeface="Wingdings" panose="05000000000000000000" pitchFamily="2" charset="2"/>
              <a:buChar char="v"/>
            </a:pPr>
            <a:r>
              <a:rPr lang="en-US" sz="21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Predictive Threat Analytics: </a:t>
            </a:r>
            <a:r>
              <a:rPr lang="en-US" sz="21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Apply time-series forecasting to predict high-risk windows and zones based on historical incident patterns.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" y="658368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REFERENCES: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41986" y="1417320"/>
            <a:ext cx="114300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Datasets: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UCF-Crime Dataset — 1,900 surveillance videos, 13 anomaly types  |  crcv.ucf.edu/projects/real-world/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xView Satellite Dataset — 1M+ annotated objects, 0.3m resolution  |  xviewdataset.org/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DOTA Aerial Images — 280,000 objects, 15 categories  |  captain-whu.github.io/DOTA/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Technologies: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YOLOv8 (Ultralytics)  —  docs.ultralytics.com/  |  Microsoft Azure  —  azure.microsoft.com/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TensorFlow  —  tensorflow.org/  |  Scikit-learn  —  scikit-learn.org/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Power BI  —  powerbi.microsoft.com/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Research Papers: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Sultani et al. — Real-world Anomaly Detection in Surveillance Videos (CVPR 2018)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Wang et al. — YOLOv8: Advanced Object Detection Architecture (2023)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Khan et al. — Enhancing Border Security Through Computer Vision (IEEE Access, 2022)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GitHub Link: </a:t>
            </a:r>
            <a:r>
              <a:rPr lang="en-US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  <a:hlinkClick r:id="rId4"/>
              </a:rPr>
              <a:t>https://github.com/binitp2/Border-Surveillance-Project</a:t>
            </a:r>
            <a:r>
              <a:rPr lang="en-US" dirty="0">
                <a:solidFill>
                  <a:srgbClr val="000000"/>
                </a:solidFill>
                <a:latin typeface="Franklin Gothic Medium" pitchFamily="34" charset="0"/>
                <a:ea typeface="Franklin Gothic Medium" pitchFamily="34" charset="-122"/>
                <a:cs typeface="Franklin Gothic Medium" pitchFamily="34" charset="-120"/>
              </a:rPr>
              <a:t> 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372954" cy="657454"/>
          </a:xfrm>
          <a:prstGeom prst="rect">
            <a:avLst/>
          </a:prstGeom>
          <a:solidFill>
            <a:srgbClr val="25356F"/>
          </a:solidFill>
          <a:ln w="12700">
            <a:solidFill>
              <a:srgbClr val="2535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6151"/>
            <a:ext cx="12191695" cy="161849"/>
          </a:xfrm>
          <a:prstGeom prst="rect">
            <a:avLst/>
          </a:prstGeom>
          <a:solidFill>
            <a:srgbClr val="34A751"/>
          </a:solidFill>
          <a:ln w="12700">
            <a:solidFill>
              <a:srgbClr val="34A7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4" y="134417"/>
            <a:ext cx="1362456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54626" y="3027578"/>
            <a:ext cx="3093415" cy="758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1173</Words>
  <Application>Microsoft Office PowerPoint</Application>
  <PresentationFormat>Widescreen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Franklin Gothic Medium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Binit Patel</cp:lastModifiedBy>
  <cp:revision>6</cp:revision>
  <dcterms:created xsi:type="dcterms:W3CDTF">2026-03-26T06:21:41Z</dcterms:created>
  <dcterms:modified xsi:type="dcterms:W3CDTF">2026-04-10T05:10:26Z</dcterms:modified>
</cp:coreProperties>
</file>